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348" r:id="rId2"/>
    <p:sldId id="355" r:id="rId3"/>
    <p:sldId id="369" r:id="rId4"/>
    <p:sldId id="370" r:id="rId5"/>
    <p:sldId id="371" r:id="rId6"/>
    <p:sldId id="338" r:id="rId7"/>
    <p:sldId id="372" r:id="rId8"/>
    <p:sldId id="373" r:id="rId9"/>
    <p:sldId id="367" r:id="rId10"/>
    <p:sldId id="340" r:id="rId11"/>
    <p:sldId id="374" r:id="rId12"/>
    <p:sldId id="309" r:id="rId13"/>
  </p:sldIdLst>
  <p:sldSz cx="9144000" cy="6858000" type="screen4x3"/>
  <p:notesSz cx="7315200" cy="9601200"/>
  <p:embeddedFontLst>
    <p:embeddedFont>
      <p:font typeface="Cambria Math" panose="02040503050406030204" pitchFamily="18" charset="0"/>
      <p:regular r:id="rId15"/>
    </p:embeddedFont>
    <p:embeddedFont>
      <p:font typeface="Monda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4" roundtripDataSignature="AMtx7mjgWJjHXbofV0vcROMVP4ZSsgPX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94B0E2-A56C-400A-89A1-F14EF7D4C214}">
  <a:tblStyle styleId="{4D94B0E2-A56C-400A-89A1-F14EF7D4C214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4B745DE-8B18-445B-91E5-C665D6CDD05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09E2730-D02E-4C08-8F8B-4FEE8CD5AC6C}" styleName="Table_2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9F632F1-EE97-4F1C-86B8-04B12358002E}" styleName="Table_3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7E7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7E7EF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D601FE2-7FAD-4D39-8837-A985B99460CA}" styleName="Table_4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75"/>
    <p:restoredTop sz="62954" autoAdjust="0"/>
  </p:normalViewPr>
  <p:slideViewPr>
    <p:cSldViewPr snapToGrid="0">
      <p:cViewPr>
        <p:scale>
          <a:sx n="66" d="100"/>
          <a:sy n="66" d="100"/>
        </p:scale>
        <p:origin x="3450" y="48"/>
      </p:cViewPr>
      <p:guideLst>
        <p:guide orient="horz" pos="2160"/>
        <p:guide pos="2880"/>
      </p:guideLst>
    </p:cSldViewPr>
  </p:slideViewPr>
  <p:notesTextViewPr>
    <p:cViewPr>
      <p:scale>
        <a:sx n="145" d="100"/>
        <a:sy n="145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7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B8552-7058-0D43-BDAD-7340B4CE1F3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414E39-2763-5B44-8312-94BA31590B15}">
      <dgm:prSet custT="1"/>
      <dgm:spPr/>
      <dgm:t>
        <a:bodyPr/>
        <a:lstStyle/>
        <a:p>
          <a:r>
            <a:rPr lang="vi-VN" sz="2400" b="1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VN" sz="2400" b="1" dirty="0">
            <a:solidFill>
              <a:schemeClr val="bg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BEAFB4-E383-3346-BC53-D1F452E2F1F2}" type="parTrans" cxnId="{CEC098B3-E640-6E4B-BE8D-49092CC0DBF9}">
      <dgm:prSet/>
      <dgm:spPr/>
      <dgm:t>
        <a:bodyPr/>
        <a:lstStyle/>
        <a:p>
          <a:endParaRPr lang="en-US"/>
        </a:p>
      </dgm:t>
    </dgm:pt>
    <dgm:pt modelId="{5DAF3E51-35BD-3744-8498-E891ECAE1BBB}" type="sibTrans" cxnId="{CEC098B3-E640-6E4B-BE8D-49092CC0DBF9}">
      <dgm:prSet/>
      <dgm:spPr/>
      <dgm:t>
        <a:bodyPr/>
        <a:lstStyle/>
        <a:p>
          <a:endParaRPr lang="en-US"/>
        </a:p>
      </dgm:t>
    </dgm:pt>
    <dgm:pt modelId="{9B1E835D-1CFD-CF4D-8206-09B5500E7068}">
      <dgm:prSet custT="1"/>
      <dgm:spPr/>
      <dgm:t>
        <a:bodyPr/>
        <a:lstStyle/>
        <a:p>
          <a:r>
            <a:rPr lang="en-US" sz="2400" b="1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Objectives &amp; Contributions</a:t>
          </a:r>
        </a:p>
      </dgm:t>
    </dgm:pt>
    <dgm:pt modelId="{6DC35578-8C43-924C-8FEC-5FE0EB49120F}" type="parTrans" cxnId="{45691267-9089-0444-94F4-2CB22BDF3A76}">
      <dgm:prSet/>
      <dgm:spPr/>
      <dgm:t>
        <a:bodyPr/>
        <a:lstStyle/>
        <a:p>
          <a:endParaRPr lang="en-US"/>
        </a:p>
      </dgm:t>
    </dgm:pt>
    <dgm:pt modelId="{13B8CB51-4A45-8A42-8E5F-08DFAB3977A2}" type="sibTrans" cxnId="{45691267-9089-0444-94F4-2CB22BDF3A76}">
      <dgm:prSet/>
      <dgm:spPr/>
      <dgm:t>
        <a:bodyPr/>
        <a:lstStyle/>
        <a:p>
          <a:endParaRPr lang="en-US"/>
        </a:p>
      </dgm:t>
    </dgm:pt>
    <dgm:pt modelId="{7E66DC2E-D9E6-4F4D-99A1-6AE63EC597CB}">
      <dgm:prSet custT="1"/>
      <dgm:spPr/>
      <dgm:t>
        <a:bodyPr/>
        <a:lstStyle/>
        <a:p>
          <a:r>
            <a:rPr lang="en-US" sz="2400" b="1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Proposed Q-Forge Framework</a:t>
          </a:r>
        </a:p>
      </dgm:t>
    </dgm:pt>
    <dgm:pt modelId="{C394E13D-056A-BA4F-8C43-CB92BC51EB2A}" type="parTrans" cxnId="{EBDDD553-75F4-3F40-BB35-948431544982}">
      <dgm:prSet/>
      <dgm:spPr/>
      <dgm:t>
        <a:bodyPr/>
        <a:lstStyle/>
        <a:p>
          <a:endParaRPr lang="en-US"/>
        </a:p>
      </dgm:t>
    </dgm:pt>
    <dgm:pt modelId="{0761C1AA-719C-BF40-A145-40DCB8302806}" type="sibTrans" cxnId="{EBDDD553-75F4-3F40-BB35-948431544982}">
      <dgm:prSet/>
      <dgm:spPr/>
      <dgm:t>
        <a:bodyPr/>
        <a:lstStyle/>
        <a:p>
          <a:endParaRPr lang="en-US"/>
        </a:p>
      </dgm:t>
    </dgm:pt>
    <dgm:pt modelId="{4C32D6F5-0897-4049-800E-D27D6BB8795A}">
      <dgm:prSet custT="1"/>
      <dgm:spPr/>
      <dgm:t>
        <a:bodyPr/>
        <a:lstStyle/>
        <a:p>
          <a:r>
            <a:rPr lang="en-US" sz="2400" b="1" i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Q-ACS </a:t>
          </a:r>
          <a:r>
            <a:rPr lang="en-US" sz="2400" b="1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Algorithm</a:t>
          </a:r>
        </a:p>
      </dgm:t>
    </dgm:pt>
    <dgm:pt modelId="{FF154161-B5A3-2844-9BE9-7EA007A19C32}" type="parTrans" cxnId="{013A0B7B-B99D-D14F-905F-3A583F4C016A}">
      <dgm:prSet/>
      <dgm:spPr/>
      <dgm:t>
        <a:bodyPr/>
        <a:lstStyle/>
        <a:p>
          <a:endParaRPr lang="en-US"/>
        </a:p>
      </dgm:t>
    </dgm:pt>
    <dgm:pt modelId="{19E74177-2677-7045-8C73-0EF46BEE974E}" type="sibTrans" cxnId="{013A0B7B-B99D-D14F-905F-3A583F4C016A}">
      <dgm:prSet/>
      <dgm:spPr/>
      <dgm:t>
        <a:bodyPr/>
        <a:lstStyle/>
        <a:p>
          <a:endParaRPr lang="en-US"/>
        </a:p>
      </dgm:t>
    </dgm:pt>
    <dgm:pt modelId="{D23D0AD0-8DB4-3B4B-A10C-D76B379DBE64}">
      <dgm:prSet custT="1"/>
      <dgm:spPr/>
      <dgm:t>
        <a:bodyPr/>
        <a:lstStyle/>
        <a:p>
          <a:r>
            <a:rPr lang="en-US" sz="2400" b="1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VN" sz="2400" b="1" dirty="0">
            <a:solidFill>
              <a:schemeClr val="bg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564212-4DCF-9049-8877-75BCD2F54EE9}" type="parTrans" cxnId="{FE4B86B8-1163-EB40-9460-A8CD923B8C96}">
      <dgm:prSet/>
      <dgm:spPr/>
      <dgm:t>
        <a:bodyPr/>
        <a:lstStyle/>
        <a:p>
          <a:endParaRPr lang="en-US"/>
        </a:p>
      </dgm:t>
    </dgm:pt>
    <dgm:pt modelId="{75681669-791A-6140-B397-861234A3E449}" type="sibTrans" cxnId="{FE4B86B8-1163-EB40-9460-A8CD923B8C96}">
      <dgm:prSet/>
      <dgm:spPr/>
      <dgm:t>
        <a:bodyPr/>
        <a:lstStyle/>
        <a:p>
          <a:endParaRPr lang="en-US"/>
        </a:p>
      </dgm:t>
    </dgm:pt>
    <dgm:pt modelId="{6539A104-C95D-204E-BE6C-86328D689010}">
      <dgm:prSet custT="1"/>
      <dgm:spPr/>
      <dgm:t>
        <a:bodyPr/>
        <a:lstStyle/>
        <a:p>
          <a:r>
            <a:rPr lang="en-US" sz="2400" b="1" i="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Experimental Evaluation</a:t>
          </a:r>
        </a:p>
      </dgm:t>
    </dgm:pt>
    <dgm:pt modelId="{070C34A7-FA50-4644-961C-3E3CDA45B6DF}" type="parTrans" cxnId="{F5221240-1B06-1C41-B3D7-955A4A5D5DAD}">
      <dgm:prSet/>
      <dgm:spPr/>
      <dgm:t>
        <a:bodyPr/>
        <a:lstStyle/>
        <a:p>
          <a:endParaRPr lang="en-US"/>
        </a:p>
      </dgm:t>
    </dgm:pt>
    <dgm:pt modelId="{28BA8C28-4BF7-6940-AB2E-36407AB3AC7E}" type="sibTrans" cxnId="{F5221240-1B06-1C41-B3D7-955A4A5D5DAD}">
      <dgm:prSet/>
      <dgm:spPr/>
      <dgm:t>
        <a:bodyPr/>
        <a:lstStyle/>
        <a:p>
          <a:endParaRPr lang="en-US"/>
        </a:p>
      </dgm:t>
    </dgm:pt>
    <dgm:pt modelId="{989F6936-8F36-0345-8409-11B472E21115}" type="pres">
      <dgm:prSet presAssocID="{AC7B8552-7058-0D43-BDAD-7340B4CE1F36}" presName="linearFlow" presStyleCnt="0">
        <dgm:presLayoutVars>
          <dgm:dir/>
          <dgm:resizeHandles val="exact"/>
        </dgm:presLayoutVars>
      </dgm:prSet>
      <dgm:spPr/>
    </dgm:pt>
    <dgm:pt modelId="{287F16B6-74A5-E949-ACB0-9E065549BD50}" type="pres">
      <dgm:prSet presAssocID="{0A414E39-2763-5B44-8312-94BA31590B15}" presName="composite" presStyleCnt="0"/>
      <dgm:spPr/>
    </dgm:pt>
    <dgm:pt modelId="{E4ED5EEE-A119-3C4D-923D-DD6D6189E3D1}" type="pres">
      <dgm:prSet presAssocID="{0A414E39-2763-5B44-8312-94BA31590B15}" presName="imgShp" presStyleLbl="fgImgPlace1" presStyleIdx="0" presStyleCnt="6"/>
      <dgm:spPr>
        <a:prstGeom prst="ellipse">
          <a:avLst/>
        </a:prstGeom>
      </dgm:spPr>
    </dgm:pt>
    <dgm:pt modelId="{F584604C-4A66-3445-A66F-C236A0E7EB6E}" type="pres">
      <dgm:prSet presAssocID="{0A414E39-2763-5B44-8312-94BA31590B15}" presName="txShp" presStyleLbl="node1" presStyleIdx="0" presStyleCnt="6">
        <dgm:presLayoutVars>
          <dgm:bulletEnabled val="1"/>
        </dgm:presLayoutVars>
      </dgm:prSet>
      <dgm:spPr/>
    </dgm:pt>
    <dgm:pt modelId="{0FE85F13-A938-B94D-8449-042FEA62BB00}" type="pres">
      <dgm:prSet presAssocID="{5DAF3E51-35BD-3744-8498-E891ECAE1BBB}" presName="spacing" presStyleCnt="0"/>
      <dgm:spPr/>
    </dgm:pt>
    <dgm:pt modelId="{CDF5CECF-9667-1242-8AAD-B1485CC86400}" type="pres">
      <dgm:prSet presAssocID="{9B1E835D-1CFD-CF4D-8206-09B5500E7068}" presName="composite" presStyleCnt="0"/>
      <dgm:spPr/>
    </dgm:pt>
    <dgm:pt modelId="{17F35489-99FD-AB4A-985E-A57B08D3EDA7}" type="pres">
      <dgm:prSet presAssocID="{9B1E835D-1CFD-CF4D-8206-09B5500E7068}" presName="imgShp" presStyleLbl="fgImgPlace1" presStyleIdx="1" presStyleCnt="6"/>
      <dgm:spPr/>
    </dgm:pt>
    <dgm:pt modelId="{3E09DA84-B6EC-EC4D-B987-A105945395B9}" type="pres">
      <dgm:prSet presAssocID="{9B1E835D-1CFD-CF4D-8206-09B5500E7068}" presName="txShp" presStyleLbl="node1" presStyleIdx="1" presStyleCnt="6">
        <dgm:presLayoutVars>
          <dgm:bulletEnabled val="1"/>
        </dgm:presLayoutVars>
      </dgm:prSet>
      <dgm:spPr/>
    </dgm:pt>
    <dgm:pt modelId="{D6F4521B-8695-0E48-BC3B-1F1B0AF41FFB}" type="pres">
      <dgm:prSet presAssocID="{13B8CB51-4A45-8A42-8E5F-08DFAB3977A2}" presName="spacing" presStyleCnt="0"/>
      <dgm:spPr/>
    </dgm:pt>
    <dgm:pt modelId="{21FFB87F-AA2A-3547-A3E6-823DF194599B}" type="pres">
      <dgm:prSet presAssocID="{7E66DC2E-D9E6-4F4D-99A1-6AE63EC597CB}" presName="composite" presStyleCnt="0"/>
      <dgm:spPr/>
    </dgm:pt>
    <dgm:pt modelId="{82FC7F3A-6C8D-E344-9A8D-631BE420BA47}" type="pres">
      <dgm:prSet presAssocID="{7E66DC2E-D9E6-4F4D-99A1-6AE63EC597CB}" presName="imgShp" presStyleLbl="fgImgPlace1" presStyleIdx="2" presStyleCnt="6"/>
      <dgm:spPr/>
    </dgm:pt>
    <dgm:pt modelId="{3310E802-D218-E348-B58B-CB3153DCF2D7}" type="pres">
      <dgm:prSet presAssocID="{7E66DC2E-D9E6-4F4D-99A1-6AE63EC597CB}" presName="txShp" presStyleLbl="node1" presStyleIdx="2" presStyleCnt="6">
        <dgm:presLayoutVars>
          <dgm:bulletEnabled val="1"/>
        </dgm:presLayoutVars>
      </dgm:prSet>
      <dgm:spPr/>
    </dgm:pt>
    <dgm:pt modelId="{74C93676-C0E9-3C4C-98B8-168D2D198866}" type="pres">
      <dgm:prSet presAssocID="{0761C1AA-719C-BF40-A145-40DCB8302806}" presName="spacing" presStyleCnt="0"/>
      <dgm:spPr/>
    </dgm:pt>
    <dgm:pt modelId="{4B2DB490-75AA-3E4E-A60C-CFD2DC313FE3}" type="pres">
      <dgm:prSet presAssocID="{4C32D6F5-0897-4049-800E-D27D6BB8795A}" presName="composite" presStyleCnt="0"/>
      <dgm:spPr/>
    </dgm:pt>
    <dgm:pt modelId="{5A16A638-F716-1444-B132-A027A4458B92}" type="pres">
      <dgm:prSet presAssocID="{4C32D6F5-0897-4049-800E-D27D6BB8795A}" presName="imgShp" presStyleLbl="fgImgPlace1" presStyleIdx="3" presStyleCnt="6"/>
      <dgm:spPr/>
    </dgm:pt>
    <dgm:pt modelId="{3D6E768F-204C-8448-AA6E-B90BF7C7F3C5}" type="pres">
      <dgm:prSet presAssocID="{4C32D6F5-0897-4049-800E-D27D6BB8795A}" presName="txShp" presStyleLbl="node1" presStyleIdx="3" presStyleCnt="6">
        <dgm:presLayoutVars>
          <dgm:bulletEnabled val="1"/>
        </dgm:presLayoutVars>
      </dgm:prSet>
      <dgm:spPr/>
    </dgm:pt>
    <dgm:pt modelId="{3391C868-435B-694A-AE7F-B6BCA1044B6C}" type="pres">
      <dgm:prSet presAssocID="{19E74177-2677-7045-8C73-0EF46BEE974E}" presName="spacing" presStyleCnt="0"/>
      <dgm:spPr/>
    </dgm:pt>
    <dgm:pt modelId="{AFA375E3-363A-4846-BCF8-AA82693DF089}" type="pres">
      <dgm:prSet presAssocID="{6539A104-C95D-204E-BE6C-86328D689010}" presName="composite" presStyleCnt="0"/>
      <dgm:spPr/>
    </dgm:pt>
    <dgm:pt modelId="{BDD8FD2B-F2F4-E545-BF5F-D1796D31AA32}" type="pres">
      <dgm:prSet presAssocID="{6539A104-C95D-204E-BE6C-86328D689010}" presName="imgShp" presStyleLbl="fgImgPlace1" presStyleIdx="4" presStyleCnt="6"/>
      <dgm:spPr/>
    </dgm:pt>
    <dgm:pt modelId="{25945403-A8C8-834B-91C6-2F46952F30EF}" type="pres">
      <dgm:prSet presAssocID="{6539A104-C95D-204E-BE6C-86328D689010}" presName="txShp" presStyleLbl="node1" presStyleIdx="4" presStyleCnt="6">
        <dgm:presLayoutVars>
          <dgm:bulletEnabled val="1"/>
        </dgm:presLayoutVars>
      </dgm:prSet>
      <dgm:spPr/>
    </dgm:pt>
    <dgm:pt modelId="{31A75FBF-0D37-474F-8DA8-95A6CA2302FE}" type="pres">
      <dgm:prSet presAssocID="{28BA8C28-4BF7-6940-AB2E-36407AB3AC7E}" presName="spacing" presStyleCnt="0"/>
      <dgm:spPr/>
    </dgm:pt>
    <dgm:pt modelId="{24AD9228-ED10-894A-A464-0445E1D345B0}" type="pres">
      <dgm:prSet presAssocID="{D23D0AD0-8DB4-3B4B-A10C-D76B379DBE64}" presName="composite" presStyleCnt="0"/>
      <dgm:spPr/>
    </dgm:pt>
    <dgm:pt modelId="{A3C8785F-680E-C948-93C3-6AE7A1C33DC0}" type="pres">
      <dgm:prSet presAssocID="{D23D0AD0-8DB4-3B4B-A10C-D76B379DBE64}" presName="imgShp" presStyleLbl="fgImgPlace1" presStyleIdx="5" presStyleCnt="6"/>
      <dgm:spPr/>
    </dgm:pt>
    <dgm:pt modelId="{031C75B4-4EE9-9347-B198-E7FE68BE755C}" type="pres">
      <dgm:prSet presAssocID="{D23D0AD0-8DB4-3B4B-A10C-D76B379DBE64}" presName="txShp" presStyleLbl="node1" presStyleIdx="5" presStyleCnt="6">
        <dgm:presLayoutVars>
          <dgm:bulletEnabled val="1"/>
        </dgm:presLayoutVars>
      </dgm:prSet>
      <dgm:spPr/>
    </dgm:pt>
  </dgm:ptLst>
  <dgm:cxnLst>
    <dgm:cxn modelId="{9179E10C-A2B6-354D-B2C9-A2218C282F8F}" type="presOf" srcId="{7E66DC2E-D9E6-4F4D-99A1-6AE63EC597CB}" destId="{3310E802-D218-E348-B58B-CB3153DCF2D7}" srcOrd="0" destOrd="0" presId="urn:microsoft.com/office/officeart/2005/8/layout/vList3"/>
    <dgm:cxn modelId="{5BCDB516-98F1-884E-B6E5-A7165F55A150}" type="presOf" srcId="{0A414E39-2763-5B44-8312-94BA31590B15}" destId="{F584604C-4A66-3445-A66F-C236A0E7EB6E}" srcOrd="0" destOrd="0" presId="urn:microsoft.com/office/officeart/2005/8/layout/vList3"/>
    <dgm:cxn modelId="{F5221240-1B06-1C41-B3D7-955A4A5D5DAD}" srcId="{AC7B8552-7058-0D43-BDAD-7340B4CE1F36}" destId="{6539A104-C95D-204E-BE6C-86328D689010}" srcOrd="4" destOrd="0" parTransId="{070C34A7-FA50-4644-961C-3E3CDA45B6DF}" sibTransId="{28BA8C28-4BF7-6940-AB2E-36407AB3AC7E}"/>
    <dgm:cxn modelId="{45691267-9089-0444-94F4-2CB22BDF3A76}" srcId="{AC7B8552-7058-0D43-BDAD-7340B4CE1F36}" destId="{9B1E835D-1CFD-CF4D-8206-09B5500E7068}" srcOrd="1" destOrd="0" parTransId="{6DC35578-8C43-924C-8FEC-5FE0EB49120F}" sibTransId="{13B8CB51-4A45-8A42-8E5F-08DFAB3977A2}"/>
    <dgm:cxn modelId="{EBDDD553-75F4-3F40-BB35-948431544982}" srcId="{AC7B8552-7058-0D43-BDAD-7340B4CE1F36}" destId="{7E66DC2E-D9E6-4F4D-99A1-6AE63EC597CB}" srcOrd="2" destOrd="0" parTransId="{C394E13D-056A-BA4F-8C43-CB92BC51EB2A}" sibTransId="{0761C1AA-719C-BF40-A145-40DCB8302806}"/>
    <dgm:cxn modelId="{013A0B7B-B99D-D14F-905F-3A583F4C016A}" srcId="{AC7B8552-7058-0D43-BDAD-7340B4CE1F36}" destId="{4C32D6F5-0897-4049-800E-D27D6BB8795A}" srcOrd="3" destOrd="0" parTransId="{FF154161-B5A3-2844-9BE9-7EA007A19C32}" sibTransId="{19E74177-2677-7045-8C73-0EF46BEE974E}"/>
    <dgm:cxn modelId="{4BEF7D80-215C-8E4A-9660-AF73CE5A948E}" type="presOf" srcId="{9B1E835D-1CFD-CF4D-8206-09B5500E7068}" destId="{3E09DA84-B6EC-EC4D-B987-A105945395B9}" srcOrd="0" destOrd="0" presId="urn:microsoft.com/office/officeart/2005/8/layout/vList3"/>
    <dgm:cxn modelId="{6D69F78B-03CB-314F-A998-E6F114CEC4C9}" type="presOf" srcId="{AC7B8552-7058-0D43-BDAD-7340B4CE1F36}" destId="{989F6936-8F36-0345-8409-11B472E21115}" srcOrd="0" destOrd="0" presId="urn:microsoft.com/office/officeart/2005/8/layout/vList3"/>
    <dgm:cxn modelId="{DF264E8D-07D2-EA4F-9AD4-B20EEED29F14}" type="presOf" srcId="{6539A104-C95D-204E-BE6C-86328D689010}" destId="{25945403-A8C8-834B-91C6-2F46952F30EF}" srcOrd="0" destOrd="0" presId="urn:microsoft.com/office/officeart/2005/8/layout/vList3"/>
    <dgm:cxn modelId="{FAB7D190-16BF-C843-B0BA-44A030DB2B89}" type="presOf" srcId="{4C32D6F5-0897-4049-800E-D27D6BB8795A}" destId="{3D6E768F-204C-8448-AA6E-B90BF7C7F3C5}" srcOrd="0" destOrd="0" presId="urn:microsoft.com/office/officeart/2005/8/layout/vList3"/>
    <dgm:cxn modelId="{CEC098B3-E640-6E4B-BE8D-49092CC0DBF9}" srcId="{AC7B8552-7058-0D43-BDAD-7340B4CE1F36}" destId="{0A414E39-2763-5B44-8312-94BA31590B15}" srcOrd="0" destOrd="0" parTransId="{12BEAFB4-E383-3346-BC53-D1F452E2F1F2}" sibTransId="{5DAF3E51-35BD-3744-8498-E891ECAE1BBB}"/>
    <dgm:cxn modelId="{FE4B86B8-1163-EB40-9460-A8CD923B8C96}" srcId="{AC7B8552-7058-0D43-BDAD-7340B4CE1F36}" destId="{D23D0AD0-8DB4-3B4B-A10C-D76B379DBE64}" srcOrd="5" destOrd="0" parTransId="{53564212-4DCF-9049-8877-75BCD2F54EE9}" sibTransId="{75681669-791A-6140-B397-861234A3E449}"/>
    <dgm:cxn modelId="{85AD22DC-A20E-3645-9580-79BA7FC1AAD8}" type="presOf" srcId="{D23D0AD0-8DB4-3B4B-A10C-D76B379DBE64}" destId="{031C75B4-4EE9-9347-B198-E7FE68BE755C}" srcOrd="0" destOrd="0" presId="urn:microsoft.com/office/officeart/2005/8/layout/vList3"/>
    <dgm:cxn modelId="{36ACD567-51B6-A54D-ABCE-3C9B911C44AA}" type="presParOf" srcId="{989F6936-8F36-0345-8409-11B472E21115}" destId="{287F16B6-74A5-E949-ACB0-9E065549BD50}" srcOrd="0" destOrd="0" presId="urn:microsoft.com/office/officeart/2005/8/layout/vList3"/>
    <dgm:cxn modelId="{08371072-E854-264F-8874-17C7FDAB9AEC}" type="presParOf" srcId="{287F16B6-74A5-E949-ACB0-9E065549BD50}" destId="{E4ED5EEE-A119-3C4D-923D-DD6D6189E3D1}" srcOrd="0" destOrd="0" presId="urn:microsoft.com/office/officeart/2005/8/layout/vList3"/>
    <dgm:cxn modelId="{7FA811E3-6E8E-4943-A622-9D4D6A4725C8}" type="presParOf" srcId="{287F16B6-74A5-E949-ACB0-9E065549BD50}" destId="{F584604C-4A66-3445-A66F-C236A0E7EB6E}" srcOrd="1" destOrd="0" presId="urn:microsoft.com/office/officeart/2005/8/layout/vList3"/>
    <dgm:cxn modelId="{90FF7323-C6E0-ED4E-96B5-EA075264331C}" type="presParOf" srcId="{989F6936-8F36-0345-8409-11B472E21115}" destId="{0FE85F13-A938-B94D-8449-042FEA62BB00}" srcOrd="1" destOrd="0" presId="urn:microsoft.com/office/officeart/2005/8/layout/vList3"/>
    <dgm:cxn modelId="{30292EAF-3354-C04F-A9FE-943B647EE892}" type="presParOf" srcId="{989F6936-8F36-0345-8409-11B472E21115}" destId="{CDF5CECF-9667-1242-8AAD-B1485CC86400}" srcOrd="2" destOrd="0" presId="urn:microsoft.com/office/officeart/2005/8/layout/vList3"/>
    <dgm:cxn modelId="{F8B1302D-CD23-1049-9F92-1E4E0789F105}" type="presParOf" srcId="{CDF5CECF-9667-1242-8AAD-B1485CC86400}" destId="{17F35489-99FD-AB4A-985E-A57B08D3EDA7}" srcOrd="0" destOrd="0" presId="urn:microsoft.com/office/officeart/2005/8/layout/vList3"/>
    <dgm:cxn modelId="{507A53BF-2AD8-0D4D-87CB-443AC3840034}" type="presParOf" srcId="{CDF5CECF-9667-1242-8AAD-B1485CC86400}" destId="{3E09DA84-B6EC-EC4D-B987-A105945395B9}" srcOrd="1" destOrd="0" presId="urn:microsoft.com/office/officeart/2005/8/layout/vList3"/>
    <dgm:cxn modelId="{32208CA5-6059-654B-9A5C-F2E2006D3A44}" type="presParOf" srcId="{989F6936-8F36-0345-8409-11B472E21115}" destId="{D6F4521B-8695-0E48-BC3B-1F1B0AF41FFB}" srcOrd="3" destOrd="0" presId="urn:microsoft.com/office/officeart/2005/8/layout/vList3"/>
    <dgm:cxn modelId="{EE1136FC-50C1-744B-941E-6C77F18C9E13}" type="presParOf" srcId="{989F6936-8F36-0345-8409-11B472E21115}" destId="{21FFB87F-AA2A-3547-A3E6-823DF194599B}" srcOrd="4" destOrd="0" presId="urn:microsoft.com/office/officeart/2005/8/layout/vList3"/>
    <dgm:cxn modelId="{42E519AB-11DC-064B-A40B-ACDCF9DD4FC9}" type="presParOf" srcId="{21FFB87F-AA2A-3547-A3E6-823DF194599B}" destId="{82FC7F3A-6C8D-E344-9A8D-631BE420BA47}" srcOrd="0" destOrd="0" presId="urn:microsoft.com/office/officeart/2005/8/layout/vList3"/>
    <dgm:cxn modelId="{FF0DD064-4F02-694F-8267-DAE339991626}" type="presParOf" srcId="{21FFB87F-AA2A-3547-A3E6-823DF194599B}" destId="{3310E802-D218-E348-B58B-CB3153DCF2D7}" srcOrd="1" destOrd="0" presId="urn:microsoft.com/office/officeart/2005/8/layout/vList3"/>
    <dgm:cxn modelId="{41F1510D-BFBD-524C-BB7A-DDC9618B76DF}" type="presParOf" srcId="{989F6936-8F36-0345-8409-11B472E21115}" destId="{74C93676-C0E9-3C4C-98B8-168D2D198866}" srcOrd="5" destOrd="0" presId="urn:microsoft.com/office/officeart/2005/8/layout/vList3"/>
    <dgm:cxn modelId="{93D88E87-1E21-2443-8BB6-735BB021323B}" type="presParOf" srcId="{989F6936-8F36-0345-8409-11B472E21115}" destId="{4B2DB490-75AA-3E4E-A60C-CFD2DC313FE3}" srcOrd="6" destOrd="0" presId="urn:microsoft.com/office/officeart/2005/8/layout/vList3"/>
    <dgm:cxn modelId="{B17BB967-9EBF-6C49-B15D-F67F9B40C14A}" type="presParOf" srcId="{4B2DB490-75AA-3E4E-A60C-CFD2DC313FE3}" destId="{5A16A638-F716-1444-B132-A027A4458B92}" srcOrd="0" destOrd="0" presId="urn:microsoft.com/office/officeart/2005/8/layout/vList3"/>
    <dgm:cxn modelId="{9EB3021C-C4E4-4149-A9A2-29E7352EB1DC}" type="presParOf" srcId="{4B2DB490-75AA-3E4E-A60C-CFD2DC313FE3}" destId="{3D6E768F-204C-8448-AA6E-B90BF7C7F3C5}" srcOrd="1" destOrd="0" presId="urn:microsoft.com/office/officeart/2005/8/layout/vList3"/>
    <dgm:cxn modelId="{0A8549F7-C78E-A840-A461-0DE6AA0508C1}" type="presParOf" srcId="{989F6936-8F36-0345-8409-11B472E21115}" destId="{3391C868-435B-694A-AE7F-B6BCA1044B6C}" srcOrd="7" destOrd="0" presId="urn:microsoft.com/office/officeart/2005/8/layout/vList3"/>
    <dgm:cxn modelId="{527BCFD9-FCC2-8D41-B6F1-AD2172692D5B}" type="presParOf" srcId="{989F6936-8F36-0345-8409-11B472E21115}" destId="{AFA375E3-363A-4846-BCF8-AA82693DF089}" srcOrd="8" destOrd="0" presId="urn:microsoft.com/office/officeart/2005/8/layout/vList3"/>
    <dgm:cxn modelId="{71F6C00F-AE38-C543-8E31-3E9CB91E886C}" type="presParOf" srcId="{AFA375E3-363A-4846-BCF8-AA82693DF089}" destId="{BDD8FD2B-F2F4-E545-BF5F-D1796D31AA32}" srcOrd="0" destOrd="0" presId="urn:microsoft.com/office/officeart/2005/8/layout/vList3"/>
    <dgm:cxn modelId="{CAC6DD36-5DF4-8D45-BE8B-0A5885ABAD17}" type="presParOf" srcId="{AFA375E3-363A-4846-BCF8-AA82693DF089}" destId="{25945403-A8C8-834B-91C6-2F46952F30EF}" srcOrd="1" destOrd="0" presId="urn:microsoft.com/office/officeart/2005/8/layout/vList3"/>
    <dgm:cxn modelId="{778EC837-0FD1-D34F-8434-69763CB9F33A}" type="presParOf" srcId="{989F6936-8F36-0345-8409-11B472E21115}" destId="{31A75FBF-0D37-474F-8DA8-95A6CA2302FE}" srcOrd="9" destOrd="0" presId="urn:microsoft.com/office/officeart/2005/8/layout/vList3"/>
    <dgm:cxn modelId="{D6F570F8-A60A-6349-BE58-FEDCBE034657}" type="presParOf" srcId="{989F6936-8F36-0345-8409-11B472E21115}" destId="{24AD9228-ED10-894A-A464-0445E1D345B0}" srcOrd="10" destOrd="0" presId="urn:microsoft.com/office/officeart/2005/8/layout/vList3"/>
    <dgm:cxn modelId="{B320BC85-9CD8-9A4B-9249-30A941D26FB4}" type="presParOf" srcId="{24AD9228-ED10-894A-A464-0445E1D345B0}" destId="{A3C8785F-680E-C948-93C3-6AE7A1C33DC0}" srcOrd="0" destOrd="0" presId="urn:microsoft.com/office/officeart/2005/8/layout/vList3"/>
    <dgm:cxn modelId="{DF22A44B-A14F-7540-BFCE-2BE7AA43EDA3}" type="presParOf" srcId="{24AD9228-ED10-894A-A464-0445E1D345B0}" destId="{031C75B4-4EE9-9347-B198-E7FE68BE755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4604C-4A66-3445-A66F-C236A0E7EB6E}">
      <dsp:nvSpPr>
        <dsp:cNvPr id="0" name=""/>
        <dsp:cNvSpPr/>
      </dsp:nvSpPr>
      <dsp:spPr>
        <a:xfrm rot="10800000">
          <a:off x="1565729" y="642"/>
          <a:ext cx="5586717" cy="6341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66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4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  <a:endParaRPr lang="en-VN" sz="2400" b="1" kern="1200" dirty="0">
            <a:solidFill>
              <a:schemeClr val="bg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724277" y="642"/>
        <a:ext cx="5428169" cy="634193"/>
      </dsp:txXfrm>
    </dsp:sp>
    <dsp:sp modelId="{E4ED5EEE-A119-3C4D-923D-DD6D6189E3D1}">
      <dsp:nvSpPr>
        <dsp:cNvPr id="0" name=""/>
        <dsp:cNvSpPr/>
      </dsp:nvSpPr>
      <dsp:spPr>
        <a:xfrm>
          <a:off x="1248632" y="642"/>
          <a:ext cx="634193" cy="6341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9DA84-B6EC-EC4D-B987-A105945395B9}">
      <dsp:nvSpPr>
        <dsp:cNvPr id="0" name=""/>
        <dsp:cNvSpPr/>
      </dsp:nvSpPr>
      <dsp:spPr>
        <a:xfrm rot="10800000">
          <a:off x="1565729" y="824146"/>
          <a:ext cx="5586717" cy="6341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66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Objectives &amp; Contributions</a:t>
          </a:r>
        </a:p>
      </dsp:txBody>
      <dsp:txXfrm rot="10800000">
        <a:off x="1724277" y="824146"/>
        <a:ext cx="5428169" cy="634193"/>
      </dsp:txXfrm>
    </dsp:sp>
    <dsp:sp modelId="{17F35489-99FD-AB4A-985E-A57B08D3EDA7}">
      <dsp:nvSpPr>
        <dsp:cNvPr id="0" name=""/>
        <dsp:cNvSpPr/>
      </dsp:nvSpPr>
      <dsp:spPr>
        <a:xfrm>
          <a:off x="1248632" y="824146"/>
          <a:ext cx="634193" cy="6341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0E802-D218-E348-B58B-CB3153DCF2D7}">
      <dsp:nvSpPr>
        <dsp:cNvPr id="0" name=""/>
        <dsp:cNvSpPr/>
      </dsp:nvSpPr>
      <dsp:spPr>
        <a:xfrm rot="10800000">
          <a:off x="1565729" y="1647651"/>
          <a:ext cx="5586717" cy="6341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66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Proposed Q-Forge Framework</a:t>
          </a:r>
        </a:p>
      </dsp:txBody>
      <dsp:txXfrm rot="10800000">
        <a:off x="1724277" y="1647651"/>
        <a:ext cx="5428169" cy="634193"/>
      </dsp:txXfrm>
    </dsp:sp>
    <dsp:sp modelId="{82FC7F3A-6C8D-E344-9A8D-631BE420BA47}">
      <dsp:nvSpPr>
        <dsp:cNvPr id="0" name=""/>
        <dsp:cNvSpPr/>
      </dsp:nvSpPr>
      <dsp:spPr>
        <a:xfrm>
          <a:off x="1248632" y="1647651"/>
          <a:ext cx="634193" cy="6341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E768F-204C-8448-AA6E-B90BF7C7F3C5}">
      <dsp:nvSpPr>
        <dsp:cNvPr id="0" name=""/>
        <dsp:cNvSpPr/>
      </dsp:nvSpPr>
      <dsp:spPr>
        <a:xfrm rot="10800000">
          <a:off x="1565729" y="2471156"/>
          <a:ext cx="5586717" cy="6341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66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Q-ACS </a:t>
          </a:r>
          <a:r>
            <a:rPr lang="en-US" sz="24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Algorithm</a:t>
          </a:r>
        </a:p>
      </dsp:txBody>
      <dsp:txXfrm rot="10800000">
        <a:off x="1724277" y="2471156"/>
        <a:ext cx="5428169" cy="634193"/>
      </dsp:txXfrm>
    </dsp:sp>
    <dsp:sp modelId="{5A16A638-F716-1444-B132-A027A4458B92}">
      <dsp:nvSpPr>
        <dsp:cNvPr id="0" name=""/>
        <dsp:cNvSpPr/>
      </dsp:nvSpPr>
      <dsp:spPr>
        <a:xfrm>
          <a:off x="1248632" y="2471156"/>
          <a:ext cx="634193" cy="6341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45403-A8C8-834B-91C6-2F46952F30EF}">
      <dsp:nvSpPr>
        <dsp:cNvPr id="0" name=""/>
        <dsp:cNvSpPr/>
      </dsp:nvSpPr>
      <dsp:spPr>
        <a:xfrm rot="10800000">
          <a:off x="1565729" y="3294660"/>
          <a:ext cx="5586717" cy="6341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66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Experimental Evaluation</a:t>
          </a:r>
        </a:p>
      </dsp:txBody>
      <dsp:txXfrm rot="10800000">
        <a:off x="1724277" y="3294660"/>
        <a:ext cx="5428169" cy="634193"/>
      </dsp:txXfrm>
    </dsp:sp>
    <dsp:sp modelId="{BDD8FD2B-F2F4-E545-BF5F-D1796D31AA32}">
      <dsp:nvSpPr>
        <dsp:cNvPr id="0" name=""/>
        <dsp:cNvSpPr/>
      </dsp:nvSpPr>
      <dsp:spPr>
        <a:xfrm>
          <a:off x="1248632" y="3294660"/>
          <a:ext cx="634193" cy="6341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C75B4-4EE9-9347-B198-E7FE68BE755C}">
      <dsp:nvSpPr>
        <dsp:cNvPr id="0" name=""/>
        <dsp:cNvSpPr/>
      </dsp:nvSpPr>
      <dsp:spPr>
        <a:xfrm rot="10800000">
          <a:off x="1565729" y="4118165"/>
          <a:ext cx="5586717" cy="6341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66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  <a:endParaRPr lang="en-VN" sz="2400" b="1" kern="1200" dirty="0">
            <a:solidFill>
              <a:schemeClr val="bg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724277" y="4118165"/>
        <a:ext cx="5428169" cy="634193"/>
      </dsp:txXfrm>
    </dsp:sp>
    <dsp:sp modelId="{A3C8785F-680E-C948-93C3-6AE7A1C33DC0}">
      <dsp:nvSpPr>
        <dsp:cNvPr id="0" name=""/>
        <dsp:cNvSpPr/>
      </dsp:nvSpPr>
      <dsp:spPr>
        <a:xfrm>
          <a:off x="1248632" y="4118165"/>
          <a:ext cx="634193" cy="63419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3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9" y="3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Good afternoon, distinguished chairs, professors, and colleagues.</a:t>
            </a:r>
          </a:p>
          <a:p>
            <a:endParaRPr lang="en-US" b="0" dirty="0"/>
          </a:p>
          <a:p>
            <a:r>
              <a:rPr lang="en-US" b="0" dirty="0"/>
              <a:t>It is my honor to present our work, titled Q-Forge:</a:t>
            </a:r>
          </a:p>
          <a:p>
            <a:r>
              <a:rPr lang="en-US" b="0" dirty="0"/>
              <a:t>An Efficient Two-Stage Framework for Noise-Aware Quantum Model Training.</a:t>
            </a:r>
          </a:p>
          <a:p>
            <a:endParaRPr lang="en-US" b="0" dirty="0"/>
          </a:p>
          <a:p>
            <a:r>
              <a:rPr lang="en-US" b="0" dirty="0"/>
              <a:t>This work was conducted at the University of Information Technology,</a:t>
            </a:r>
          </a:p>
          <a:p>
            <a:r>
              <a:rPr lang="en-US" b="0" dirty="0"/>
              <a:t>Vietnam National University Ho Chi Minh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345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2C98D661-364C-BAA3-449B-B08C05A77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39889409-0067-04E9-A71A-BF932026C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6E46AAD1-C955-E6C9-7C09-8FFC63C90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55000" lnSpcReduction="20000"/>
          </a:bodyPr>
          <a:lstStyle/>
          <a:p>
            <a:r>
              <a:rPr lang="en-US" sz="4400" dirty="0"/>
              <a:t>This presentation is organized as follows.</a:t>
            </a:r>
          </a:p>
          <a:p>
            <a:endParaRPr lang="en-US" sz="4400" dirty="0"/>
          </a:p>
          <a:p>
            <a:r>
              <a:rPr lang="en-US" sz="4400" dirty="0"/>
              <a:t>First, I will introduce the background and motivation.</a:t>
            </a:r>
          </a:p>
          <a:p>
            <a:r>
              <a:rPr lang="en-US" sz="4400" dirty="0"/>
              <a:t>	Then, I will present our objectives and main contributions.</a:t>
            </a:r>
          </a:p>
          <a:p>
            <a:endParaRPr lang="en-US" sz="4400" dirty="0"/>
          </a:p>
          <a:p>
            <a:r>
              <a:rPr lang="en-US" sz="4400" dirty="0"/>
              <a:t>Next, I will describe the Q-Forge framework</a:t>
            </a:r>
          </a:p>
          <a:p>
            <a:r>
              <a:rPr lang="en-US" sz="4400" dirty="0"/>
              <a:t>	and the Q-ACS algorithm.</a:t>
            </a:r>
          </a:p>
          <a:p>
            <a:endParaRPr lang="en-US" sz="4400" dirty="0"/>
          </a:p>
          <a:p>
            <a:r>
              <a:rPr lang="en-US" sz="4400" dirty="0"/>
              <a:t>After that, I will show the experimental results.</a:t>
            </a:r>
          </a:p>
          <a:p>
            <a:endParaRPr lang="en-US" sz="4400" dirty="0"/>
          </a:p>
          <a:p>
            <a:r>
              <a:rPr lang="en-US" sz="4400" dirty="0"/>
              <a:t>Finally, I will conclude the presentation.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44EA2E18-FDE1-D48F-E16B-020B242B2B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6135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DF86037B-C86B-54E7-6A4C-5888329F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C834D133-B754-E4F0-6999-7EA27D170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A83F5075-C917-A0FA-1152-A6C7B6A93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47500" lnSpcReduction="20000"/>
          </a:bodyPr>
          <a:lstStyle/>
          <a:p>
            <a:r>
              <a:rPr lang="en-US" sz="4400" dirty="0"/>
              <a:t>Quantum Machine Learning offers strong advantages</a:t>
            </a:r>
          </a:p>
          <a:p>
            <a:r>
              <a:rPr lang="en-US" sz="4400" dirty="0"/>
              <a:t>over classical methods.</a:t>
            </a:r>
          </a:p>
          <a:p>
            <a:endParaRPr lang="en-US" sz="4400" dirty="0"/>
          </a:p>
          <a:p>
            <a:r>
              <a:rPr lang="en-US" sz="4400" dirty="0"/>
              <a:t>However, current NISQ devices</a:t>
            </a:r>
          </a:p>
          <a:p>
            <a:r>
              <a:rPr lang="en-US" sz="4400" dirty="0"/>
              <a:t>are strongly affected by quantum noise.</a:t>
            </a:r>
          </a:p>
          <a:p>
            <a:endParaRPr lang="en-US" sz="4400" dirty="0"/>
          </a:p>
          <a:p>
            <a:r>
              <a:rPr lang="en-US" sz="4400" dirty="0"/>
              <a:t>This noise can reduce model accuracy</a:t>
            </a:r>
          </a:p>
          <a:p>
            <a:r>
              <a:rPr lang="en-US" sz="4400" dirty="0"/>
              <a:t>by sixty to sixty-four percent, compared to ideal simulations.</a:t>
            </a:r>
          </a:p>
          <a:p>
            <a:endParaRPr lang="en-US" sz="4400" dirty="0"/>
          </a:p>
          <a:p>
            <a:r>
              <a:rPr lang="en-US" sz="4400" dirty="0"/>
              <a:t>As a result, there is a large sim-to-real gap</a:t>
            </a:r>
          </a:p>
          <a:p>
            <a:r>
              <a:rPr lang="en-US" sz="4400" dirty="0"/>
              <a:t>between simulators and real quantum hardware.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C404EB7F-24B4-17C4-44EC-B4B52BA82A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5980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6D3FF8C8-B51B-8F54-419A-516298BD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9BF16C21-22F8-4500-E437-ABDAF89244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A5B0C198-7329-426C-8181-D41A0050A3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25000" lnSpcReduction="20000"/>
          </a:bodyPr>
          <a:lstStyle/>
          <a:p>
            <a:r>
              <a:rPr lang="en-US" sz="4400" dirty="0"/>
              <a:t>Currently, there are two main approaches</a:t>
            </a:r>
          </a:p>
          <a:p>
            <a:r>
              <a:rPr lang="en-US" sz="4400" dirty="0"/>
              <a:t>to handle quantum noise.</a:t>
            </a:r>
          </a:p>
          <a:p>
            <a:endParaRPr lang="en-US" sz="4400" dirty="0"/>
          </a:p>
          <a:p>
            <a:r>
              <a:rPr lang="en-US" sz="4400" dirty="0"/>
              <a:t>The first approach designs noise-resilient architectures.</a:t>
            </a:r>
          </a:p>
          <a:p>
            <a:r>
              <a:rPr lang="en-US" sz="4400" dirty="0"/>
              <a:t>This method is effective, but it is costly</a:t>
            </a:r>
          </a:p>
          <a:p>
            <a:r>
              <a:rPr lang="en-US" sz="4400" dirty="0"/>
              <a:t>and often depends on specific hardware.</a:t>
            </a:r>
          </a:p>
          <a:p>
            <a:endParaRPr lang="en-US" sz="4400" dirty="0"/>
          </a:p>
          <a:p>
            <a:r>
              <a:rPr lang="en-US" sz="4400" dirty="0"/>
              <a:t>The second approach trains models</a:t>
            </a:r>
          </a:p>
          <a:p>
            <a:r>
              <a:rPr lang="en-US" sz="4400" dirty="0"/>
              <a:t>on a Realistic Quantum Emulator, called RQE.</a:t>
            </a:r>
          </a:p>
          <a:p>
            <a:endParaRPr lang="en-US" sz="4400" dirty="0"/>
          </a:p>
          <a:p>
            <a:r>
              <a:rPr lang="en-US" sz="4400" dirty="0"/>
              <a:t>RQE simulates real quantum devices</a:t>
            </a:r>
          </a:p>
          <a:p>
            <a:r>
              <a:rPr lang="en-US" sz="4400" dirty="0"/>
              <a:t>using noise models from hardware snapshots.</a:t>
            </a:r>
          </a:p>
          <a:p>
            <a:endParaRPr lang="en-US" sz="4400" dirty="0"/>
          </a:p>
          <a:p>
            <a:r>
              <a:rPr lang="en-US" sz="4400" dirty="0"/>
              <a:t>Previous studies show that models trained on RQE</a:t>
            </a:r>
          </a:p>
          <a:p>
            <a:r>
              <a:rPr lang="en-US" sz="4400" dirty="0"/>
              <a:t>lose less than five percent accuracy on real devices.</a:t>
            </a:r>
          </a:p>
          <a:p>
            <a:endParaRPr lang="en-US" sz="4400" dirty="0"/>
          </a:p>
          <a:p>
            <a:r>
              <a:rPr lang="en-US" sz="4400" dirty="0"/>
              <a:t>However, training on RQE is very expensive and converges slowly.</a:t>
            </a:r>
          </a:p>
          <a:p>
            <a:endParaRPr lang="en-US" sz="4400" dirty="0"/>
          </a:p>
          <a:p>
            <a:r>
              <a:rPr lang="en-US" sz="4400" dirty="0"/>
              <a:t>This leads to our research question. </a:t>
            </a:r>
          </a:p>
          <a:p>
            <a:r>
              <a:rPr lang="en-US" sz="4400" dirty="0"/>
              <a:t>How can we train quantum models Efficiently and robustly under realistic quantum noise?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F2ECAA53-87F4-0B21-8E94-12D4F83F66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862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32595F57-8291-389A-97D6-E03A09F38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2183BF2F-1E0D-0DE5-9255-C2D4390A5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25B0E374-AF6F-E7BE-CDAE-3ACACEBE2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32500" lnSpcReduction="20000"/>
          </a:bodyPr>
          <a:lstStyle/>
          <a:p>
            <a:r>
              <a:rPr lang="en-US" sz="4400" dirty="0"/>
              <a:t>To address these challenges, we propose Q-Forge,</a:t>
            </a:r>
          </a:p>
          <a:p>
            <a:r>
              <a:rPr lang="en-US" sz="4400" dirty="0"/>
              <a:t>a two-stage training framework.</a:t>
            </a:r>
          </a:p>
          <a:p>
            <a:endParaRPr lang="en-US" sz="4400" dirty="0"/>
          </a:p>
          <a:p>
            <a:r>
              <a:rPr lang="en-US" sz="4400" dirty="0"/>
              <a:t>In the first stage, The model is trained on an ideal,</a:t>
            </a:r>
          </a:p>
          <a:p>
            <a:r>
              <a:rPr lang="en-US" sz="4400" dirty="0"/>
              <a:t>noise-free simulator to learn basic features quickly.</a:t>
            </a:r>
          </a:p>
          <a:p>
            <a:endParaRPr lang="en-US" sz="4400" dirty="0"/>
          </a:p>
          <a:p>
            <a:r>
              <a:rPr lang="en-US" sz="4400" dirty="0"/>
              <a:t>In the second stage, the model is fine-tuned</a:t>
            </a:r>
          </a:p>
          <a:p>
            <a:r>
              <a:rPr lang="en-US" sz="4400" dirty="0"/>
              <a:t>on a realistic quantum emulator to adapt to hardware noise.</a:t>
            </a:r>
          </a:p>
          <a:p>
            <a:endParaRPr lang="en-US" sz="4400" dirty="0"/>
          </a:p>
          <a:p>
            <a:r>
              <a:rPr lang="en-US" sz="4400" dirty="0"/>
              <a:t>To automate this process, we introduce Q-ACS,</a:t>
            </a:r>
          </a:p>
          <a:p>
            <a:r>
              <a:rPr lang="en-US" sz="4400" dirty="0"/>
              <a:t>an adaptive algorithm that finds the best transition point.</a:t>
            </a:r>
          </a:p>
          <a:p>
            <a:endParaRPr lang="en-US" sz="4400" dirty="0"/>
          </a:p>
          <a:p>
            <a:r>
              <a:rPr lang="en-US" sz="4400" dirty="0"/>
              <a:t>Our experiments show that Q-Forge reduces training time </a:t>
            </a:r>
          </a:p>
          <a:p>
            <a:r>
              <a:rPr lang="en-US" sz="4400" dirty="0"/>
              <a:t>by up to seventy percent, and improves accuracy by six to eight percent.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ABECA881-24DF-D686-0C4C-5010837346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886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66FE4A2F-867F-11E2-A95F-96D6D2DF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>
            <a:extLst>
              <a:ext uri="{FF2B5EF4-FFF2-40B4-BE49-F238E27FC236}">
                <a16:creationId xmlns:a16="http://schemas.microsoft.com/office/drawing/2014/main" id="{D4760016-51E7-1F9F-D91B-A98CA1A40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1:notes">
            <a:extLst>
              <a:ext uri="{FF2B5EF4-FFF2-40B4-BE49-F238E27FC236}">
                <a16:creationId xmlns:a16="http://schemas.microsoft.com/office/drawing/2014/main" id="{9DA6C73C-AF0C-FE5D-2B2D-E86C156FE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dirty="0"/>
              <a:t>This figure shows the overall architecture</a:t>
            </a:r>
          </a:p>
          <a:p>
            <a:r>
              <a:rPr lang="en-US" dirty="0"/>
              <a:t>of the Q-Forge framework.</a:t>
            </a:r>
          </a:p>
          <a:p>
            <a:endParaRPr lang="en-US" dirty="0"/>
          </a:p>
          <a:p>
            <a:r>
              <a:rPr lang="en-US" dirty="0"/>
              <a:t>In the first stage, the model is trained</a:t>
            </a:r>
          </a:p>
          <a:p>
            <a:r>
              <a:rPr lang="en-US" dirty="0"/>
              <a:t>on a noise-free simulator.</a:t>
            </a:r>
          </a:p>
          <a:p>
            <a:endParaRPr lang="en-US" dirty="0"/>
          </a:p>
          <a:p>
            <a:r>
              <a:rPr lang="en-US" dirty="0"/>
              <a:t>After convergence, the training moves</a:t>
            </a:r>
          </a:p>
          <a:p>
            <a:r>
              <a:rPr lang="en-US" dirty="0"/>
              <a:t>to a noise-aware environment.</a:t>
            </a:r>
          </a:p>
          <a:p>
            <a:endParaRPr lang="en-US" dirty="0"/>
          </a:p>
          <a:p>
            <a:r>
              <a:rPr lang="en-US" dirty="0"/>
              <a:t>This transition is controlled automatically</a:t>
            </a:r>
          </a:p>
          <a:p>
            <a:r>
              <a:rPr lang="en-US" dirty="0"/>
              <a:t>by the Q-ACS algorithm, without manual intervention.</a:t>
            </a:r>
          </a:p>
        </p:txBody>
      </p:sp>
      <p:sp>
        <p:nvSpPr>
          <p:cNvPr id="302" name="Google Shape;302;p11:notes">
            <a:extLst>
              <a:ext uri="{FF2B5EF4-FFF2-40B4-BE49-F238E27FC236}">
                <a16:creationId xmlns:a16="http://schemas.microsoft.com/office/drawing/2014/main" id="{2ABDC4A2-2B61-136E-7AEB-1D74F0D443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580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9C29C006-C12D-5B2A-56E2-F58513C9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359CE42B-8E1F-1F1B-B4EE-D4C975CDE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18AF1E7C-3F2D-71FD-D0DD-E63219E20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47500" lnSpcReduction="20000"/>
          </a:bodyPr>
          <a:lstStyle/>
          <a:p>
            <a:r>
              <a:rPr lang="en-US" sz="4400" dirty="0"/>
              <a:t>The Q-ACS algorithm controls the transition</a:t>
            </a:r>
          </a:p>
          <a:p>
            <a:r>
              <a:rPr lang="en-US" sz="4400" dirty="0"/>
              <a:t>between the two training stages.</a:t>
            </a:r>
          </a:p>
          <a:p>
            <a:endParaRPr lang="en-US" sz="4400" dirty="0"/>
          </a:p>
          <a:p>
            <a:r>
              <a:rPr lang="en-US" sz="4400" dirty="0"/>
              <a:t>It monitors the training process by tracking the loss value</a:t>
            </a:r>
          </a:p>
          <a:p>
            <a:r>
              <a:rPr lang="en-US" sz="4400" dirty="0"/>
              <a:t>and the gradient norm.</a:t>
            </a:r>
          </a:p>
          <a:p>
            <a:endParaRPr lang="en-US" sz="4400" dirty="0"/>
          </a:p>
          <a:p>
            <a:r>
              <a:rPr lang="en-US" sz="4400" dirty="0"/>
              <a:t>When the loss no longer improves and the gradient becomes small,</a:t>
            </a:r>
          </a:p>
          <a:p>
            <a:r>
              <a:rPr lang="en-US" sz="4400" dirty="0"/>
              <a:t>the model is considered converged.</a:t>
            </a:r>
          </a:p>
          <a:p>
            <a:endParaRPr lang="en-US" sz="4400" dirty="0"/>
          </a:p>
          <a:p>
            <a:r>
              <a:rPr lang="en-US" sz="4400" dirty="0"/>
              <a:t>At this point, Q-ACS automatically switches</a:t>
            </a:r>
          </a:p>
          <a:p>
            <a:r>
              <a:rPr lang="en-US" sz="4400" dirty="0"/>
              <a:t>to the noise-aware stage.</a:t>
            </a:r>
          </a:p>
          <a:p>
            <a:endParaRPr lang="en-US" sz="4400" dirty="0"/>
          </a:p>
          <a:p>
            <a:r>
              <a:rPr lang="en-US" sz="4400" dirty="0"/>
              <a:t>This helps save training time.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E5653F66-31C7-D853-ACA9-A4185F26FD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390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7F5E1C28-CF2E-172B-E8F7-B377DEEF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44F21200-5672-876D-E0F0-9190E0E7C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3A110CE8-7908-5803-C4D8-900386F9C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32500" lnSpcReduction="20000"/>
          </a:bodyPr>
          <a:lstStyle/>
          <a:p>
            <a:r>
              <a:rPr lang="en-US" sz="4400" dirty="0"/>
              <a:t>For our experiments, we use the MNIST dataset for binary classification.</a:t>
            </a:r>
          </a:p>
          <a:p>
            <a:endParaRPr lang="en-US" sz="4400" dirty="0"/>
          </a:p>
          <a:p>
            <a:r>
              <a:rPr lang="en-US" sz="4400" dirty="0"/>
              <a:t>We evaluate two types of models.</a:t>
            </a:r>
          </a:p>
          <a:p>
            <a:endParaRPr lang="en-US" sz="4400" dirty="0"/>
          </a:p>
          <a:p>
            <a:r>
              <a:rPr lang="en-US" sz="4400" dirty="0"/>
              <a:t>The first is the Variational Quantum Circuit,</a:t>
            </a:r>
          </a:p>
          <a:p>
            <a:r>
              <a:rPr lang="en-US" sz="4400" dirty="0"/>
              <a:t>including VQC one and VQC two.</a:t>
            </a:r>
          </a:p>
          <a:p>
            <a:endParaRPr lang="en-US" sz="4400" dirty="0"/>
          </a:p>
          <a:p>
            <a:r>
              <a:rPr lang="en-US" sz="4400" dirty="0"/>
              <a:t>The second is a hybrid model called SQNN.</a:t>
            </a:r>
          </a:p>
          <a:p>
            <a:endParaRPr lang="en-US" sz="4400" dirty="0"/>
          </a:p>
          <a:p>
            <a:r>
              <a:rPr lang="en-US" sz="4400" dirty="0"/>
              <a:t>We use </a:t>
            </a:r>
            <a:r>
              <a:rPr lang="en-US" sz="4400" dirty="0" err="1"/>
              <a:t>Qiskit</a:t>
            </a:r>
            <a:r>
              <a:rPr lang="en-US" sz="4400" dirty="0"/>
              <a:t>, PennyLane, and </a:t>
            </a:r>
            <a:r>
              <a:rPr lang="en-US" sz="4400" dirty="0" err="1"/>
              <a:t>PyTorch</a:t>
            </a:r>
            <a:r>
              <a:rPr lang="en-US" sz="4400" dirty="0"/>
              <a:t>.</a:t>
            </a:r>
          </a:p>
          <a:p>
            <a:endParaRPr lang="en-US" sz="4400" dirty="0"/>
          </a:p>
          <a:p>
            <a:r>
              <a:rPr lang="en-US" sz="4400" dirty="0"/>
              <a:t>As a baseline, we compare our method</a:t>
            </a:r>
          </a:p>
          <a:p>
            <a:r>
              <a:rPr lang="en-US" sz="4400" dirty="0"/>
              <a:t>with direct training on a Realistic Quantum Emulator.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7B7B19BF-B381-28CC-7ABE-EBB19697DA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7995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9E7D4CEE-D77E-AB6D-3B2D-359382C2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>
            <a:extLst>
              <a:ext uri="{FF2B5EF4-FFF2-40B4-BE49-F238E27FC236}">
                <a16:creationId xmlns:a16="http://schemas.microsoft.com/office/drawing/2014/main" id="{130DDC04-395A-3729-CF90-FA1FD8901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1:notes">
            <a:extLst>
              <a:ext uri="{FF2B5EF4-FFF2-40B4-BE49-F238E27FC236}">
                <a16:creationId xmlns:a16="http://schemas.microsoft.com/office/drawing/2014/main" id="{4137CD54-7F06-A0EC-4740-3616E4BE5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dirty="0"/>
              <a:t>This table compares the baseline method with Q-Forge.</a:t>
            </a:r>
          </a:p>
          <a:p>
            <a:endParaRPr lang="en-US" dirty="0"/>
          </a:p>
          <a:p>
            <a:r>
              <a:rPr lang="en-US" dirty="0"/>
              <a:t>For SQNN, Q-Forge reduces training time by about half.</a:t>
            </a:r>
          </a:p>
          <a:p>
            <a:endParaRPr lang="en-US" dirty="0"/>
          </a:p>
          <a:p>
            <a:r>
              <a:rPr lang="en-US" dirty="0"/>
              <a:t>For VQC one, it reduces training time by nearly eighty percent.</a:t>
            </a:r>
          </a:p>
          <a:p>
            <a:endParaRPr lang="en-US" dirty="0"/>
          </a:p>
          <a:p>
            <a:r>
              <a:rPr lang="en-US" dirty="0"/>
              <a:t>Most importantly, for VQC two, Q-Forge reduces training time by over seventy percent,</a:t>
            </a:r>
          </a:p>
          <a:p>
            <a:r>
              <a:rPr lang="en-US" dirty="0"/>
              <a:t>and improves accuracy by about eight percent.</a:t>
            </a:r>
          </a:p>
          <a:p>
            <a:endParaRPr lang="en-US" dirty="0"/>
          </a:p>
          <a:p>
            <a:r>
              <a:rPr lang="en-US" dirty="0"/>
              <a:t>These results show the effectiveness of Q-Forge.</a:t>
            </a:r>
          </a:p>
        </p:txBody>
      </p:sp>
      <p:sp>
        <p:nvSpPr>
          <p:cNvPr id="302" name="Google Shape;302;p11:notes">
            <a:extLst>
              <a:ext uri="{FF2B5EF4-FFF2-40B4-BE49-F238E27FC236}">
                <a16:creationId xmlns:a16="http://schemas.microsoft.com/office/drawing/2014/main" id="{046CB518-7B69-9F5C-C2EB-A8CB9D307F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2140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8D8CC43D-DAF9-97AE-6657-72657FE4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>
            <a:extLst>
              <a:ext uri="{FF2B5EF4-FFF2-40B4-BE49-F238E27FC236}">
                <a16:creationId xmlns:a16="http://schemas.microsoft.com/office/drawing/2014/main" id="{B3BD5475-37CE-4D48-B7A3-BF21F7087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1:notes">
            <a:extLst>
              <a:ext uri="{FF2B5EF4-FFF2-40B4-BE49-F238E27FC236}">
                <a16:creationId xmlns:a16="http://schemas.microsoft.com/office/drawing/2014/main" id="{CC142CCD-A05F-3459-D847-C8A53030D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r>
              <a:rPr lang="en-US" dirty="0"/>
              <a:t>This figure shows the effect of different transition points.</a:t>
            </a:r>
          </a:p>
          <a:p>
            <a:endParaRPr lang="en-US" dirty="0"/>
          </a:p>
          <a:p>
            <a:r>
              <a:rPr lang="en-US" dirty="0"/>
              <a:t>As the transition point increases, the validation loss decreases, and the training time becomes shorter.</a:t>
            </a:r>
          </a:p>
          <a:p>
            <a:endParaRPr lang="en-US" dirty="0"/>
          </a:p>
          <a:p>
            <a:r>
              <a:rPr lang="en-US" dirty="0"/>
              <a:t>The transition point selected by Q-ACS,</a:t>
            </a:r>
          </a:p>
          <a:p>
            <a:r>
              <a:rPr lang="en-US" dirty="0"/>
              <a:t>at tau equals forty-one, achieves the best result.</a:t>
            </a:r>
          </a:p>
          <a:p>
            <a:endParaRPr lang="en-US" dirty="0"/>
          </a:p>
          <a:p>
            <a:r>
              <a:rPr lang="en-US" dirty="0"/>
              <a:t>This confirms the effectiveness of the Q-ACS algorithm.</a:t>
            </a:r>
          </a:p>
        </p:txBody>
      </p:sp>
      <p:sp>
        <p:nvSpPr>
          <p:cNvPr id="302" name="Google Shape;302;p11:notes">
            <a:extLst>
              <a:ext uri="{FF2B5EF4-FFF2-40B4-BE49-F238E27FC236}">
                <a16:creationId xmlns:a16="http://schemas.microsoft.com/office/drawing/2014/main" id="{96DC466E-ABB4-2605-36F6-7223D25AB5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421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68232608-1AB3-D544-8824-77C65D29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>
            <a:extLst>
              <a:ext uri="{FF2B5EF4-FFF2-40B4-BE49-F238E27FC236}">
                <a16:creationId xmlns:a16="http://schemas.microsoft.com/office/drawing/2014/main" id="{396CA776-F04C-E97B-F53B-C9C6C61E6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>
            <a:extLst>
              <a:ext uri="{FF2B5EF4-FFF2-40B4-BE49-F238E27FC236}">
                <a16:creationId xmlns:a16="http://schemas.microsoft.com/office/drawing/2014/main" id="{30D3C0A8-6FE7-D020-7166-3323A9C27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 fontScale="40000" lnSpcReduction="20000"/>
          </a:bodyPr>
          <a:lstStyle/>
          <a:p>
            <a:r>
              <a:rPr lang="en-US" sz="4400" dirty="0"/>
              <a:t>For future work, we plan to extend Q-Forge in several directions.</a:t>
            </a:r>
          </a:p>
          <a:p>
            <a:endParaRPr lang="en-US" sz="4400" dirty="0"/>
          </a:p>
          <a:p>
            <a:r>
              <a:rPr lang="en-US" sz="4400" dirty="0"/>
              <a:t>First, we will test larger quantum systems.</a:t>
            </a:r>
          </a:p>
          <a:p>
            <a:r>
              <a:rPr lang="en-US" sz="4400" dirty="0"/>
              <a:t>Second, we will use more complex datasets.</a:t>
            </a:r>
          </a:p>
          <a:p>
            <a:r>
              <a:rPr lang="en-US" sz="4400" dirty="0"/>
              <a:t>Third, we plan to deploy our method on real quantum hardware.</a:t>
            </a:r>
          </a:p>
          <a:p>
            <a:endParaRPr lang="en-US" sz="4400" dirty="0"/>
          </a:p>
          <a:p>
            <a:r>
              <a:rPr lang="en-US" sz="4400" dirty="0"/>
              <a:t>Finally, we will study robustness under different noise settings.</a:t>
            </a:r>
          </a:p>
        </p:txBody>
      </p:sp>
      <p:sp>
        <p:nvSpPr>
          <p:cNvPr id="142" name="Google Shape;142;p3:notes">
            <a:extLst>
              <a:ext uri="{FF2B5EF4-FFF2-40B4-BE49-F238E27FC236}">
                <a16:creationId xmlns:a16="http://schemas.microsoft.com/office/drawing/2014/main" id="{B43CE263-54E3-9A42-F87C-A188C85B29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8753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p5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Thank you very much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for your attention.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 would be happy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to answer any questions.</a:t>
            </a:r>
          </a:p>
        </p:txBody>
      </p:sp>
      <p:sp>
        <p:nvSpPr>
          <p:cNvPr id="899" name="Google Shape;899;p54:notes"/>
          <p:cNvSpPr txBox="1">
            <a:spLocks noGrp="1"/>
          </p:cNvSpPr>
          <p:nvPr>
            <p:ph type="sldNum" idx="12"/>
          </p:nvPr>
        </p:nvSpPr>
        <p:spPr>
          <a:xfrm>
            <a:off x="4143589" y="9119476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8"/>
          <p:cNvSpPr txBox="1">
            <a:spLocks noGrp="1"/>
          </p:cNvSpPr>
          <p:nvPr>
            <p:ph type="body" idx="1"/>
          </p:nvPr>
        </p:nvSpPr>
        <p:spPr>
          <a:xfrm>
            <a:off x="285722" y="990600"/>
            <a:ext cx="8607455" cy="524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4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9pPr>
          </a:lstStyle>
          <a:p>
            <a:endParaRPr/>
          </a:p>
        </p:txBody>
      </p:sp>
      <p:sp>
        <p:nvSpPr>
          <p:cNvPr id="28" name="Google Shape;28;p58"/>
          <p:cNvSpPr txBox="1">
            <a:spLocks noGrp="1"/>
          </p:cNvSpPr>
          <p:nvPr>
            <p:ph type="dt" idx="10"/>
          </p:nvPr>
        </p:nvSpPr>
        <p:spPr>
          <a:xfrm>
            <a:off x="946154" y="6541267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8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8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58" descr="A logo with blue and black stripe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0" y="6359266"/>
            <a:ext cx="943423" cy="616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e de titr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0"/>
          <p:cNvSpPr txBox="1">
            <a:spLocks noGrp="1"/>
          </p:cNvSpPr>
          <p:nvPr>
            <p:ph type="title"/>
          </p:nvPr>
        </p:nvSpPr>
        <p:spPr>
          <a:xfrm>
            <a:off x="684213" y="115890"/>
            <a:ext cx="820896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0"/>
          <p:cNvSpPr txBox="1">
            <a:spLocks noGrp="1"/>
          </p:cNvSpPr>
          <p:nvPr>
            <p:ph type="body" idx="1"/>
          </p:nvPr>
        </p:nvSpPr>
        <p:spPr>
          <a:xfrm>
            <a:off x="684214" y="1268414"/>
            <a:ext cx="4027487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45974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640"/>
              <a:buChar char="▪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⮚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9pPr>
          </a:lstStyle>
          <a:p>
            <a:endParaRPr/>
          </a:p>
        </p:txBody>
      </p:sp>
      <p:sp>
        <p:nvSpPr>
          <p:cNvPr id="36" name="Google Shape;36;p60"/>
          <p:cNvSpPr txBox="1">
            <a:spLocks noGrp="1"/>
          </p:cNvSpPr>
          <p:nvPr>
            <p:ph type="body" idx="2"/>
          </p:nvPr>
        </p:nvSpPr>
        <p:spPr>
          <a:xfrm>
            <a:off x="4864101" y="1268414"/>
            <a:ext cx="4029075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45974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640"/>
              <a:buChar char="▪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⮚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 sz="1800"/>
            </a:lvl9pPr>
          </a:lstStyle>
          <a:p>
            <a:endParaRPr/>
          </a:p>
        </p:txBody>
      </p:sp>
      <p:sp>
        <p:nvSpPr>
          <p:cNvPr id="37" name="Google Shape;37;p60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0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1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12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1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4267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120"/>
              <a:buChar char="▪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⮚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☞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9pPr>
          </a:lstStyle>
          <a:p>
            <a:endParaRPr/>
          </a:p>
        </p:txBody>
      </p:sp>
      <p:sp>
        <p:nvSpPr>
          <p:cNvPr id="44" name="Google Shape;44;p6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12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1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4267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120"/>
              <a:buChar char="▪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⮚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☞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⬧"/>
              <a:defRPr sz="1600"/>
            </a:lvl9pPr>
          </a:lstStyle>
          <a:p>
            <a:endParaRPr/>
          </a:p>
        </p:txBody>
      </p:sp>
      <p:sp>
        <p:nvSpPr>
          <p:cNvPr id="46" name="Google Shape;46;p61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1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1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p61" descr="A logo with blue and black stripe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61833" y="80587"/>
            <a:ext cx="1424967" cy="93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2"/>
          <p:cNvSpPr txBox="1">
            <a:spLocks noGrp="1"/>
          </p:cNvSpPr>
          <p:nvPr>
            <p:ph type="title"/>
          </p:nvPr>
        </p:nvSpPr>
        <p:spPr>
          <a:xfrm>
            <a:off x="684213" y="115890"/>
            <a:ext cx="820896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2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2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2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3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3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3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4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4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49276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4160"/>
              <a:buChar char="▪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⮚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☞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⬧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⬧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⬧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⬧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⬧"/>
              <a:defRPr sz="2000"/>
            </a:lvl9pPr>
          </a:lstStyle>
          <a:p>
            <a:endParaRPr/>
          </a:p>
        </p:txBody>
      </p:sp>
      <p:sp>
        <p:nvSpPr>
          <p:cNvPr id="62" name="Google Shape;62;p64"/>
          <p:cNvSpPr txBox="1">
            <a:spLocks noGrp="1"/>
          </p:cNvSpPr>
          <p:nvPr>
            <p:ph type="body" idx="2"/>
          </p:nvPr>
        </p:nvSpPr>
        <p:spPr>
          <a:xfrm>
            <a:off x="457201" y="143510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64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4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4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5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5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65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5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5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6"/>
          <p:cNvSpPr txBox="1">
            <a:spLocks noGrp="1"/>
          </p:cNvSpPr>
          <p:nvPr>
            <p:ph type="title"/>
          </p:nvPr>
        </p:nvSpPr>
        <p:spPr>
          <a:xfrm>
            <a:off x="684213" y="115890"/>
            <a:ext cx="820896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6"/>
          <p:cNvSpPr txBox="1">
            <a:spLocks noGrp="1"/>
          </p:cNvSpPr>
          <p:nvPr>
            <p:ph type="body" idx="1"/>
          </p:nvPr>
        </p:nvSpPr>
        <p:spPr>
          <a:xfrm rot="5400000">
            <a:off x="2203451" y="-452437"/>
            <a:ext cx="5170488" cy="820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4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9pPr>
          </a:lstStyle>
          <a:p>
            <a:endParaRPr/>
          </a:p>
        </p:txBody>
      </p:sp>
      <p:sp>
        <p:nvSpPr>
          <p:cNvPr id="76" name="Google Shape;76;p66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6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6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7"/>
          <p:cNvSpPr txBox="1">
            <a:spLocks noGrp="1"/>
          </p:cNvSpPr>
          <p:nvPr>
            <p:ph type="title"/>
          </p:nvPr>
        </p:nvSpPr>
        <p:spPr>
          <a:xfrm rot="5400000">
            <a:off x="4806950" y="2151063"/>
            <a:ext cx="6121400" cy="205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7"/>
          <p:cNvSpPr txBox="1">
            <a:spLocks noGrp="1"/>
          </p:cNvSpPr>
          <p:nvPr>
            <p:ph type="body" idx="1"/>
          </p:nvPr>
        </p:nvSpPr>
        <p:spPr>
          <a:xfrm rot="5400000">
            <a:off x="626269" y="173832"/>
            <a:ext cx="6121400" cy="600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4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9pPr>
          </a:lstStyle>
          <a:p>
            <a:endParaRPr/>
          </a:p>
        </p:txBody>
      </p:sp>
      <p:sp>
        <p:nvSpPr>
          <p:cNvPr id="82" name="Google Shape;82;p67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7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7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. Texte et contenu" type="txAndObj">
  <p:cSld name="TEXT_AND_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8"/>
          <p:cNvSpPr txBox="1">
            <a:spLocks noGrp="1"/>
          </p:cNvSpPr>
          <p:nvPr>
            <p:ph type="title"/>
          </p:nvPr>
        </p:nvSpPr>
        <p:spPr>
          <a:xfrm>
            <a:off x="684213" y="115890"/>
            <a:ext cx="820896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8"/>
          <p:cNvSpPr txBox="1">
            <a:spLocks noGrp="1"/>
          </p:cNvSpPr>
          <p:nvPr>
            <p:ph type="body" idx="1"/>
          </p:nvPr>
        </p:nvSpPr>
        <p:spPr>
          <a:xfrm>
            <a:off x="684214" y="1268414"/>
            <a:ext cx="4027487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4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9pPr>
          </a:lstStyle>
          <a:p>
            <a:endParaRPr/>
          </a:p>
        </p:txBody>
      </p:sp>
      <p:sp>
        <p:nvSpPr>
          <p:cNvPr id="88" name="Google Shape;88;p68"/>
          <p:cNvSpPr txBox="1">
            <a:spLocks noGrp="1"/>
          </p:cNvSpPr>
          <p:nvPr>
            <p:ph type="body" idx="2"/>
          </p:nvPr>
        </p:nvSpPr>
        <p:spPr>
          <a:xfrm>
            <a:off x="4864101" y="1268414"/>
            <a:ext cx="4029075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40"/>
              <a:buChar char="▪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☞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⬧"/>
              <a:defRPr/>
            </a:lvl9pPr>
          </a:lstStyle>
          <a:p>
            <a:endParaRPr/>
          </a:p>
        </p:txBody>
      </p:sp>
      <p:sp>
        <p:nvSpPr>
          <p:cNvPr id="89" name="Google Shape;89;p68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8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8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diagramme" type="chart">
  <p:cSld name="CHAR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9"/>
          <p:cNvSpPr txBox="1">
            <a:spLocks noGrp="1"/>
          </p:cNvSpPr>
          <p:nvPr>
            <p:ph type="title"/>
          </p:nvPr>
        </p:nvSpPr>
        <p:spPr>
          <a:xfrm>
            <a:off x="684213" y="115890"/>
            <a:ext cx="820896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69"/>
          <p:cNvSpPr>
            <a:spLocks noGrp="1"/>
          </p:cNvSpPr>
          <p:nvPr>
            <p:ph type="chart" idx="2"/>
          </p:nvPr>
        </p:nvSpPr>
        <p:spPr>
          <a:xfrm>
            <a:off x="684213" y="1268414"/>
            <a:ext cx="8208963" cy="496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9CC"/>
              </a:buClr>
              <a:buSzPts val="3120"/>
              <a:buFont typeface="Noto Sans Symbols"/>
              <a:buChar char="▪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Monda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☞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⬧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5" name="Google Shape;95;p69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9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9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ableau" type="tbl">
  <p:cSld name="TABL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0"/>
          <p:cNvSpPr txBox="1">
            <a:spLocks noGrp="1"/>
          </p:cNvSpPr>
          <p:nvPr>
            <p:ph type="title"/>
          </p:nvPr>
        </p:nvSpPr>
        <p:spPr>
          <a:xfrm>
            <a:off x="684213" y="115889"/>
            <a:ext cx="8208963" cy="86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0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0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70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6729-6E27-94AE-AFA6-7954368E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7843A-E3B1-3231-2E39-8053481F8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79C364C-FE82-95AA-149B-DB3873EC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3000" y="6356350"/>
            <a:ext cx="5129612" cy="365125"/>
          </a:xfrm>
        </p:spPr>
        <p:txBody>
          <a:bodyPr/>
          <a:lstStyle>
            <a:lvl1pPr>
              <a:defRPr/>
            </a:lvl1pPr>
          </a:lstStyle>
          <a:p>
            <a:fld id="{44AB385C-FE48-4D5A-9CBE-F24597CCF033}" type="datetime2">
              <a:rPr lang="vi-VN" smtClean="0"/>
              <a:t>Thứ Năm, 18 Tháng Mười Hai 2025</a:t>
            </a:fld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A06E6CB-2688-6DB4-147B-3EF82812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9186F-54EF-4C50-88C7-6D923E171D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9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>
            <a:spLocks noGrp="1"/>
          </p:cNvSpPr>
          <p:nvPr>
            <p:ph type="body" idx="1"/>
          </p:nvPr>
        </p:nvSpPr>
        <p:spPr>
          <a:xfrm>
            <a:off x="684213" y="1066801"/>
            <a:ext cx="8208963" cy="517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42671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99CC"/>
              </a:buClr>
              <a:buSzPts val="3120"/>
              <a:buFont typeface="Noto Sans Symbols"/>
              <a:buChar char="▪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Monda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☞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2000"/>
              <a:buFont typeface="Noto Sans Symbols"/>
              <a:buChar char="⬧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99CC"/>
              </a:buClr>
              <a:buSzPts val="1800"/>
              <a:buFont typeface="Noto Sans Symbols"/>
              <a:buChar char="⬧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56"/>
          <p:cNvSpPr txBox="1">
            <a:spLocks noGrp="1"/>
          </p:cNvSpPr>
          <p:nvPr>
            <p:ph type="title"/>
          </p:nvPr>
        </p:nvSpPr>
        <p:spPr>
          <a:xfrm>
            <a:off x="684213" y="115890"/>
            <a:ext cx="8208963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1" i="0" u="none" strike="noStrike" cap="non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9pPr>
          </a:lstStyle>
          <a:p>
            <a:endParaRPr/>
          </a:p>
        </p:txBody>
      </p:sp>
      <p:sp>
        <p:nvSpPr>
          <p:cNvPr id="12" name="Google Shape;12;p56"/>
          <p:cNvSpPr/>
          <p:nvPr/>
        </p:nvSpPr>
        <p:spPr>
          <a:xfrm rot="5400000" flipH="1">
            <a:off x="4537076" y="-3448050"/>
            <a:ext cx="69850" cy="864235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0099C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56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4;p56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099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56"/>
          <p:cNvSpPr txBox="1">
            <a:spLocks noGrp="1"/>
          </p:cNvSpPr>
          <p:nvPr>
            <p:ph type="dt" idx="10"/>
          </p:nvPr>
        </p:nvSpPr>
        <p:spPr>
          <a:xfrm>
            <a:off x="762001" y="6524626"/>
            <a:ext cx="10795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56"/>
          <p:cNvSpPr txBox="1">
            <a:spLocks noGrp="1"/>
          </p:cNvSpPr>
          <p:nvPr>
            <p:ph type="ftr" idx="11"/>
          </p:nvPr>
        </p:nvSpPr>
        <p:spPr>
          <a:xfrm>
            <a:off x="2514601" y="6524626"/>
            <a:ext cx="328136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56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5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55872" y="6466757"/>
            <a:ext cx="471055" cy="389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4E1428C-BC9D-8329-9C3A-751C980D6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9803" y="-842043"/>
            <a:ext cx="9603606" cy="4271043"/>
          </a:xfrm>
        </p:spPr>
        <p:txBody>
          <a:bodyPr>
            <a:noAutofit/>
          </a:bodyPr>
          <a:lstStyle/>
          <a:p>
            <a:pPr marL="80010"/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Q-Forge: An Efficient Two-Stage Framework </a:t>
            </a:r>
            <a:b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 Noise-Aware Quantum Model Training</a:t>
            </a:r>
            <a:endParaRPr lang="en-US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558CE-4382-8856-5C93-C4521290F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56364"/>
            <a:ext cx="6858000" cy="2075760"/>
          </a:xfrm>
        </p:spPr>
        <p:txBody>
          <a:bodyPr>
            <a:normAutofit/>
          </a:bodyPr>
          <a:lstStyle/>
          <a:p>
            <a:pPr marL="8001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80010" indent="0" algn="ctr">
              <a:buNone/>
            </a:pPr>
            <a:r>
              <a:rPr lang="en-US" dirty="0">
                <a:solidFill>
                  <a:srgbClr val="002060"/>
                </a:solidFill>
              </a:rPr>
              <a:t>Ngoc-Truong Nguyen, Huy-Tan Thai</a:t>
            </a:r>
            <a:endParaRPr lang="en-US" dirty="0">
              <a:solidFill>
                <a:srgbClr val="00B0F0"/>
              </a:solidFill>
            </a:endParaRPr>
          </a:p>
          <a:p>
            <a:pPr marL="80010" indent="0" algn="ctr">
              <a:buNone/>
            </a:pPr>
            <a:r>
              <a:rPr lang="en-US" sz="2000" i="1" dirty="0">
                <a:solidFill>
                  <a:srgbClr val="002060"/>
                </a:solidFill>
              </a:rPr>
              <a:t>Ho Chi Minh, 2025</a:t>
            </a:r>
          </a:p>
          <a:p>
            <a:pPr marL="80010" indent="0">
              <a:buNone/>
            </a:pP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0A784EA-BBDA-98D0-7E3A-1D195F401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257" y="85383"/>
            <a:ext cx="1175752" cy="741844"/>
          </a:xfrm>
          <a:prstGeom prst="rect">
            <a:avLst/>
          </a:prstGeom>
        </p:spPr>
      </p:pic>
      <p:pic>
        <p:nvPicPr>
          <p:cNvPr id="2" name="!!UIT Logo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EF12E781-B0A3-0911-8BD2-EF51282F85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6842" y="85383"/>
            <a:ext cx="869100" cy="71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6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E249316A-4F94-3E6B-1AFD-7A602FB41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C45780C8-2D68-2553-48F3-F6AF13016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/>
              <a:t>Outline</a:t>
            </a:r>
            <a:endParaRPr sz="2800" b="1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EE3FEC-F939-0ED7-9280-7A0CC5896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5283092"/>
              </p:ext>
            </p:extLst>
          </p:nvPr>
        </p:nvGraphicFramePr>
        <p:xfrm>
          <a:off x="371458" y="1089533"/>
          <a:ext cx="8401079" cy="4753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B523973A-2FFC-D2AC-EF15-8326DABB8A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17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BECCF41A-1957-7788-A30C-96F37B7C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E9197420-94F8-28D0-4992-E512554FE3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Introduction</a:t>
            </a:r>
            <a:endParaRPr b="1" dirty="0"/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93555523-4B77-ACB4-81F3-D66316CE90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DD1DB86-10FD-E650-1881-2BA1BD97A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The Potential of QML: </a:t>
            </a:r>
            <a:r>
              <a:rPr lang="en-US" b="0" dirty="0"/>
              <a:t>Quantum Machine Learning (QML) promises </a:t>
            </a:r>
            <a:r>
              <a:rPr lang="en-US" dirty="0"/>
              <a:t>significant computational advantages</a:t>
            </a:r>
            <a:r>
              <a:rPr lang="en-US" b="0" dirty="0"/>
              <a:t> over classical approaches.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The NISQ Challenge: </a:t>
            </a:r>
            <a:r>
              <a:rPr lang="en-US" b="0" dirty="0"/>
              <a:t>Current Noisy Intermediate-Scale Quantum (NISQ) devices are </a:t>
            </a:r>
            <a:r>
              <a:rPr lang="en-US" dirty="0"/>
              <a:t>severely impacted by quantum noise</a:t>
            </a:r>
            <a:r>
              <a:rPr lang="en-US" b="0" dirty="0"/>
              <a:t>.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Accuracy Degradation: </a:t>
            </a:r>
            <a:r>
              <a:rPr lang="en-US" b="0" dirty="0"/>
              <a:t>Noise significantly reduces model performance, potentially causing a drop of </a:t>
            </a:r>
            <a:r>
              <a:rPr lang="en-US" dirty="0"/>
              <a:t>60-64%</a:t>
            </a:r>
            <a:r>
              <a:rPr lang="en-US" b="0" dirty="0"/>
              <a:t>.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Sim-to-Real Gap: </a:t>
            </a:r>
            <a:r>
              <a:rPr lang="en-US" b="0" dirty="0"/>
              <a:t>A substantial discrepancy exists between </a:t>
            </a:r>
            <a:r>
              <a:rPr lang="en-US" dirty="0"/>
              <a:t>Ideal Simulations</a:t>
            </a:r>
            <a:r>
              <a:rPr lang="en-US" b="0" dirty="0"/>
              <a:t> and performance on </a:t>
            </a:r>
            <a:r>
              <a:rPr lang="en-US" dirty="0"/>
              <a:t>Physical Hardware</a:t>
            </a:r>
            <a:r>
              <a:rPr lang="en-US" b="0" dirty="0"/>
              <a:t>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1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F102C794-A918-A927-A320-B94A710D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7086CC81-0A83-AC07-E7F6-76A01AB97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Problem</a:t>
            </a:r>
            <a:endParaRPr b="1" dirty="0"/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0CC557FA-9F32-018C-F666-8985E9216A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71C0A9D-DB20-9CF8-800D-09C907941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SzPts val="3120"/>
              <a:buNone/>
            </a:pPr>
            <a:r>
              <a:rPr lang="en-US" dirty="0"/>
              <a:t>Current Methods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Designing noise-resilient architectures:</a:t>
            </a:r>
          </a:p>
          <a:p>
            <a:pPr marL="800100" lvl="1" algn="just">
              <a:spcBef>
                <a:spcPts val="0"/>
              </a:spcBef>
              <a:spcAft>
                <a:spcPts val="600"/>
              </a:spcAft>
              <a:buSzPts val="3120"/>
              <a:buFont typeface="Arial" panose="020B0604020202020204" pitchFamily="34" charset="0"/>
              <a:buChar char="•"/>
            </a:pPr>
            <a:r>
              <a:rPr lang="en-US" b="0" dirty="0"/>
              <a:t>Costly to design, difficult to optimize, and often hardware-specific.</a:t>
            </a:r>
          </a:p>
          <a:p>
            <a:pPr marL="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Training on a Realistic Quantum Emulator (RQE):</a:t>
            </a:r>
          </a:p>
          <a:p>
            <a:pPr marL="800100" lvl="1" algn="just">
              <a:spcBef>
                <a:spcPts val="0"/>
              </a:spcBef>
              <a:spcAft>
                <a:spcPts val="600"/>
              </a:spcAft>
              <a:buSzPts val="3120"/>
              <a:buFont typeface="Arial" panose="020B0604020202020204" pitchFamily="34" charset="0"/>
              <a:buChar char="•"/>
            </a:pPr>
            <a:r>
              <a:rPr lang="en-US" dirty="0"/>
              <a:t>Simulates real device architectures and noise profiles snapshot from quantum hardware.</a:t>
            </a:r>
          </a:p>
          <a:p>
            <a:pPr marL="800100" lvl="1" algn="just">
              <a:spcBef>
                <a:spcPts val="0"/>
              </a:spcBef>
              <a:spcAft>
                <a:spcPts val="600"/>
              </a:spcAft>
              <a:buSzPts val="3120"/>
              <a:buFont typeface="Arial" panose="020B0604020202020204" pitchFamily="34" charset="0"/>
              <a:buChar char="•"/>
            </a:pPr>
            <a:r>
              <a:rPr lang="en-US" dirty="0"/>
              <a:t>Prior studies report </a:t>
            </a:r>
            <a:r>
              <a:rPr lang="en-US" b="1" dirty="0"/>
              <a:t>&lt;5% accuracy degradation</a:t>
            </a:r>
            <a:r>
              <a:rPr lang="en-US" dirty="0"/>
              <a:t> on real devices, but training is </a:t>
            </a:r>
            <a:r>
              <a:rPr lang="en-US" b="1" dirty="0"/>
              <a:t>computationally expensive</a:t>
            </a:r>
            <a:r>
              <a:rPr lang="en-US" dirty="0"/>
              <a:t> and </a:t>
            </a:r>
            <a:r>
              <a:rPr lang="en-US" b="1" dirty="0"/>
              <a:t>slow to converge</a:t>
            </a:r>
            <a:r>
              <a:rPr lang="en-US" dirty="0"/>
              <a:t> due to a rugged loss landscape.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SzPts val="3120"/>
              <a:buNone/>
            </a:pPr>
            <a:r>
              <a:rPr lang="en-US" dirty="0"/>
              <a:t>Research Question</a:t>
            </a:r>
          </a:p>
          <a:p>
            <a:pPr marL="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b="0" i="1" dirty="0"/>
              <a:t>How can we train quantum models efficiently while preserving strong robustness to realistic quantum noise?</a:t>
            </a:r>
          </a:p>
          <a:p>
            <a:pPr marL="342900" algn="just">
              <a:spcBef>
                <a:spcPts val="0"/>
              </a:spcBef>
              <a:buSzPts val="3120"/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algn="just">
              <a:spcBef>
                <a:spcPts val="0"/>
              </a:spcBef>
              <a:buSzPts val="3120"/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algn="just">
              <a:spcBef>
                <a:spcPts val="0"/>
              </a:spcBef>
              <a:buSzPts val="3120"/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algn="just">
              <a:spcBef>
                <a:spcPts val="0"/>
              </a:spcBef>
              <a:buSzPts val="3120"/>
              <a:buFont typeface="Wingdings" panose="05000000000000000000" pitchFamily="2" charset="2"/>
              <a:buChar char="§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0018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D501FF26-E86A-ECCA-AF84-9A8EA4CB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5A2819FB-E23C-48BE-2FC9-491A268F09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Research Objectives &amp; Contributions</a:t>
            </a:r>
            <a:endParaRPr b="1" dirty="0"/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F578F48D-30BF-493A-6982-F9881BC435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879302C-3E14-CECA-866E-55DF43F62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Q-Forge Framework: </a:t>
            </a:r>
            <a:r>
              <a:rPr lang="en-US" b="0" dirty="0"/>
              <a:t>A novel two-stage curriculum learning strategy addresses slow convergence issues when training directly on noisy quantum environments (RQE).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Q-ACS Algorithm:</a:t>
            </a:r>
            <a:r>
              <a:rPr lang="en-US" b="0" dirty="0"/>
              <a:t> An adaptive mechanism to automatically detect the optimal transition point based on loss stability. Eliminate manual tuning for the transition between ideal and noisy stages.</a:t>
            </a:r>
          </a:p>
          <a:p>
            <a:pPr marL="342900" algn="just">
              <a:spcBef>
                <a:spcPts val="0"/>
              </a:spcBef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Empirical Validation:</a:t>
            </a:r>
            <a:r>
              <a:rPr lang="en-US" b="0" dirty="0"/>
              <a:t> Demonstrated up to </a:t>
            </a:r>
            <a:r>
              <a:rPr lang="en-US" dirty="0"/>
              <a:t>70% reduction</a:t>
            </a:r>
            <a:r>
              <a:rPr lang="en-US" b="0" dirty="0"/>
              <a:t> in training time and </a:t>
            </a:r>
            <a:r>
              <a:rPr lang="en-US" dirty="0"/>
              <a:t>6-8% accuracy gain</a:t>
            </a:r>
            <a:r>
              <a:rPr lang="en-US" b="0" dirty="0"/>
              <a:t> on VQC models.</a:t>
            </a:r>
          </a:p>
        </p:txBody>
      </p:sp>
    </p:spTree>
    <p:extLst>
      <p:ext uri="{BB962C8B-B14F-4D97-AF65-F5344CB8AC3E}">
        <p14:creationId xmlns:p14="http://schemas.microsoft.com/office/powerpoint/2010/main" val="314791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ECDF06A9-E449-BECC-E43E-2DD77E7D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>
            <a:extLst>
              <a:ext uri="{FF2B5EF4-FFF2-40B4-BE49-F238E27FC236}">
                <a16:creationId xmlns:a16="http://schemas.microsoft.com/office/drawing/2014/main" id="{BA0FF557-BE24-BE96-F019-CA3AE9C52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2600" y="1274364"/>
            <a:ext cx="8229600" cy="113863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spcBef>
                <a:spcPts val="0"/>
              </a:spcBef>
              <a:buSzPts val="3120"/>
              <a:buNone/>
            </a:pPr>
            <a:r>
              <a:rPr lang="en-US" b="0" dirty="0"/>
              <a:t>Q-Forge is a two-stage curriculum learning framework that enables fast convergence in ideal simulators and robust adaptation to realistic quantum noise.</a:t>
            </a:r>
          </a:p>
        </p:txBody>
      </p:sp>
      <p:sp>
        <p:nvSpPr>
          <p:cNvPr id="307" name="Google Shape;307;p11">
            <a:extLst>
              <a:ext uri="{FF2B5EF4-FFF2-40B4-BE49-F238E27FC236}">
                <a16:creationId xmlns:a16="http://schemas.microsoft.com/office/drawing/2014/main" id="{7B114434-880C-9F47-2BD0-DF75E1649D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5" name="Google Shape;353;p14">
            <a:extLst>
              <a:ext uri="{FF2B5EF4-FFF2-40B4-BE49-F238E27FC236}">
                <a16:creationId xmlns:a16="http://schemas.microsoft.com/office/drawing/2014/main" id="{BAD6102A-B024-240D-3755-649A8D8BCEB2}"/>
              </a:ext>
            </a:extLst>
          </p:cNvPr>
          <p:cNvSpPr txBox="1"/>
          <p:nvPr/>
        </p:nvSpPr>
        <p:spPr>
          <a:xfrm>
            <a:off x="1060449" y="5590094"/>
            <a:ext cx="702310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of Q-Forge framework.</a:t>
            </a:r>
            <a:endParaRPr sz="18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Hình ảnh 3" descr="Ảnh có chứa văn bản, Phông chữ&#10;&#10;Nội dung do AI tạo ra có thể không chính xác.">
            <a:extLst>
              <a:ext uri="{FF2B5EF4-FFF2-40B4-BE49-F238E27FC236}">
                <a16:creationId xmlns:a16="http://schemas.microsoft.com/office/drawing/2014/main" id="{1393413E-1134-0F3D-325E-196AACF97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49" y="2843466"/>
            <a:ext cx="7023102" cy="2667786"/>
          </a:xfrm>
          <a:prstGeom prst="rect">
            <a:avLst/>
          </a:prstGeom>
        </p:spPr>
      </p:pic>
      <p:sp>
        <p:nvSpPr>
          <p:cNvPr id="2" name="Google Shape;144;p3">
            <a:extLst>
              <a:ext uri="{FF2B5EF4-FFF2-40B4-BE49-F238E27FC236}">
                <a16:creationId xmlns:a16="http://schemas.microsoft.com/office/drawing/2014/main" id="{16EF0D2A-F754-E949-8375-0986445E2C44}"/>
              </a:ext>
            </a:extLst>
          </p:cNvPr>
          <p:cNvSpPr txBox="1">
            <a:spLocks/>
          </p:cNvSpPr>
          <p:nvPr/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9pPr>
          </a:lstStyle>
          <a:p>
            <a:r>
              <a:rPr lang="en-US" b="1" dirty="0"/>
              <a:t>Proposed Q-Forge Framework</a:t>
            </a:r>
          </a:p>
        </p:txBody>
      </p:sp>
    </p:spTree>
    <p:extLst>
      <p:ext uri="{BB962C8B-B14F-4D97-AF65-F5344CB8AC3E}">
        <p14:creationId xmlns:p14="http://schemas.microsoft.com/office/powerpoint/2010/main" val="209813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8A04079D-D496-EAA9-D080-A32894543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858860BD-5302-1EC1-255E-8A88DA781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The Q-ACS Algorithm</a:t>
            </a:r>
            <a:endParaRPr b="1" dirty="0"/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3B3BB4C5-3C00-5222-8455-EAD0A3EECD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Văn bản 2">
                <a:extLst>
                  <a:ext uri="{FF2B5EF4-FFF2-40B4-BE49-F238E27FC236}">
                    <a16:creationId xmlns:a16="http://schemas.microsoft.com/office/drawing/2014/main" id="{A5AA676F-D875-F874-292E-8DC9693D152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/>
              <a:lstStyle/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en-US" dirty="0"/>
                  <a:t>Monitors training dynamics</a:t>
                </a:r>
              </a:p>
              <a:p>
                <a:pPr marL="0" indent="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None/>
                </a:pPr>
                <a:r>
                  <a:rPr lang="en-US" b="0" dirty="0"/>
                  <a:t>Loss stability and gradient norm.</a:t>
                </a:r>
              </a:p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en-US" dirty="0"/>
                  <a:t>Automatic convergence detection</a:t>
                </a:r>
              </a:p>
              <a:p>
                <a:pPr marL="342900" indent="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None/>
                </a:pPr>
                <a:r>
                  <a:rPr lang="en-US" b="0" dirty="0"/>
                  <a:t>Identifies when the model has sufficiently converged in the ideal environment.</a:t>
                </a:r>
              </a:p>
              <a:p>
                <a:pPr marL="342900" indent="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None/>
                </a:pPr>
                <a:r>
                  <a:rPr lang="en-US" sz="2000" b="0" i="1" dirty="0"/>
                  <a:t>(no significant loss improvement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b="0" i="1" dirty="0"/>
                  <a:t> epochs and gradient norm below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b="0" i="1" dirty="0"/>
                  <a:t>)</a:t>
                </a:r>
              </a:p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en-US" dirty="0"/>
                  <a:t>Key benefit</a:t>
                </a:r>
              </a:p>
              <a:p>
                <a:pPr marL="342900" indent="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None/>
                </a:pPr>
                <a:r>
                  <a:rPr lang="en-US" b="0" dirty="0"/>
                  <a:t>Prevents premature or delayed stage transition, improving both efficiency and stability.</a:t>
                </a:r>
              </a:p>
            </p:txBody>
          </p:sp>
        </mc:Choice>
        <mc:Fallback xmlns="">
          <p:sp>
            <p:nvSpPr>
              <p:cNvPr id="3" name="Chỗ dành sẵn cho Văn bản 2">
                <a:extLst>
                  <a:ext uri="{FF2B5EF4-FFF2-40B4-BE49-F238E27FC236}">
                    <a16:creationId xmlns:a16="http://schemas.microsoft.com/office/drawing/2014/main" id="{A5AA676F-D875-F874-292E-8DC9693D15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558" t="-2558" r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81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723886A3-9B9D-3364-7786-ECCDB344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414213E5-78C6-B911-BF10-BD0BE5292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Experimental Setup</a:t>
            </a:r>
            <a:endParaRPr b="1" dirty="0"/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A9686B5B-DA44-83AC-16D7-64B18229F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Văn bản 2">
                <a:extLst>
                  <a:ext uri="{FF2B5EF4-FFF2-40B4-BE49-F238E27FC236}">
                    <a16:creationId xmlns:a16="http://schemas.microsoft.com/office/drawing/2014/main" id="{358207D0-A6B5-EF2A-4AE0-0FEB085C907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anchor="t"/>
              <a:lstStyle/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en-US" dirty="0"/>
                  <a:t>Datasets: </a:t>
                </a:r>
                <a:r>
                  <a:rPr lang="en-US" b="0" dirty="0"/>
                  <a:t>MNIST (2-class classification)</a:t>
                </a:r>
              </a:p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en-US" dirty="0"/>
                  <a:t>Models:</a:t>
                </a:r>
              </a:p>
              <a:p>
                <a:pPr marL="800100" lvl="1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Arial" panose="020B0604020202020204" pitchFamily="34" charset="0"/>
                  <a:buChar char="•"/>
                </a:pPr>
                <a:r>
                  <a:rPr lang="pt-BR" sz="2400" b="0" dirty="0"/>
                  <a:t>Variational Quantum Circuit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𝑉𝑄𝐶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𝑉𝑄𝐶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b="0" dirty="0"/>
                  <a:t>).</a:t>
                </a:r>
              </a:p>
              <a:p>
                <a:pPr marL="800100" lvl="1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Arial" panose="020B0604020202020204" pitchFamily="34" charset="0"/>
                  <a:buChar char="•"/>
                </a:pPr>
                <a:r>
                  <a:rPr lang="pt-BR" sz="2400" b="0" dirty="0"/>
                  <a:t>Hybrid Quantum-Classical (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𝑆𝑄𝑁𝑁</m:t>
                    </m:r>
                  </m:oMath>
                </a14:m>
                <a:r>
                  <a:rPr lang="pt-BR" sz="2400" b="0" dirty="0"/>
                  <a:t>).</a:t>
                </a:r>
              </a:p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en-US" dirty="0"/>
                  <a:t>Environment:</a:t>
                </a:r>
              </a:p>
              <a:p>
                <a:pPr marL="800100" lvl="1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Framework: </a:t>
                </a:r>
                <a:r>
                  <a:rPr lang="en-US" sz="2400" b="0" dirty="0" err="1"/>
                  <a:t>Qiskit</a:t>
                </a:r>
                <a:r>
                  <a:rPr lang="en-US" sz="2400" b="0" dirty="0"/>
                  <a:t>, PennyLane, </a:t>
                </a:r>
                <a:r>
                  <a:rPr lang="en-US" sz="2400" b="0" dirty="0" err="1"/>
                  <a:t>PyTorch</a:t>
                </a:r>
                <a:r>
                  <a:rPr lang="en-US" sz="2400" b="0" dirty="0"/>
                  <a:t>.</a:t>
                </a:r>
              </a:p>
              <a:p>
                <a:pPr marL="800100" lvl="1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Backend: </a:t>
                </a:r>
                <a:r>
                  <a:rPr lang="en-US" sz="2400" b="0" dirty="0"/>
                  <a:t>IBM Fake Providers (Fake Vigo, Fake Manila...)</a:t>
                </a:r>
              </a:p>
              <a:p>
                <a:pPr marL="342900" indent="-342900" algn="just">
                  <a:spcBef>
                    <a:spcPts val="0"/>
                  </a:spcBef>
                  <a:spcAft>
                    <a:spcPts val="600"/>
                  </a:spcAft>
                  <a:buSzPts val="3120"/>
                  <a:buFont typeface="Wingdings" panose="05000000000000000000" pitchFamily="2" charset="2"/>
                  <a:buChar char="§"/>
                </a:pPr>
                <a:r>
                  <a:rPr lang="vi-VN" dirty="0" err="1"/>
                  <a:t>Baseline</a:t>
                </a:r>
                <a:r>
                  <a:rPr lang="vi-VN" dirty="0"/>
                  <a:t>: </a:t>
                </a:r>
                <a:r>
                  <a:rPr lang="vi-VN" b="0" dirty="0" err="1"/>
                  <a:t>Direct</a:t>
                </a:r>
                <a:r>
                  <a:rPr lang="vi-VN" b="0" dirty="0"/>
                  <a:t> </a:t>
                </a:r>
                <a:r>
                  <a:rPr lang="vi-VN" b="0" dirty="0" err="1"/>
                  <a:t>training</a:t>
                </a:r>
                <a:r>
                  <a:rPr lang="en-US" b="0" dirty="0"/>
                  <a:t> on</a:t>
                </a:r>
                <a:r>
                  <a:rPr lang="vi-VN" b="0" dirty="0"/>
                  <a:t> RQE</a:t>
                </a:r>
                <a:r>
                  <a:rPr lang="en-US" b="0" dirty="0"/>
                  <a:t>.</a:t>
                </a:r>
              </a:p>
            </p:txBody>
          </p:sp>
        </mc:Choice>
        <mc:Fallback xmlns="">
          <p:sp>
            <p:nvSpPr>
              <p:cNvPr id="3" name="Chỗ dành sẵn cho Văn bản 2">
                <a:extLst>
                  <a:ext uri="{FF2B5EF4-FFF2-40B4-BE49-F238E27FC236}">
                    <a16:creationId xmlns:a16="http://schemas.microsoft.com/office/drawing/2014/main" id="{358207D0-A6B5-EF2A-4AE0-0FEB085C9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558" t="-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650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1F5E8B8E-321A-5FCC-851C-F3AE750A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>
            <a:extLst>
              <a:ext uri="{FF2B5EF4-FFF2-40B4-BE49-F238E27FC236}">
                <a16:creationId xmlns:a16="http://schemas.microsoft.com/office/drawing/2014/main" id="{4DD1F10F-CEE2-EA61-C73E-17676421FD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A2BC6DC-BB7C-B2AD-23C3-3E5D2B239A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819133"/>
                  </p:ext>
                </p:extLst>
              </p:nvPr>
            </p:nvGraphicFramePr>
            <p:xfrm>
              <a:off x="822960" y="1834342"/>
              <a:ext cx="7498080" cy="3657600"/>
            </p:xfrm>
            <a:graphic>
              <a:graphicData uri="http://schemas.openxmlformats.org/drawingml/2006/table">
                <a:tbl>
                  <a:tblPr>
                    <a:tableStyleId>{4D94B0E2-A56C-400A-89A1-F14EF7D4C214}</a:tableStyleId>
                  </a:tblPr>
                  <a:tblGrid>
                    <a:gridCol w="1280160">
                      <a:extLst>
                        <a:ext uri="{9D8B030D-6E8A-4147-A177-3AD203B41FA5}">
                          <a16:colId xmlns:a16="http://schemas.microsoft.com/office/drawing/2014/main" val="2961694923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45081105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7149315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4962701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55846649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568131052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3443626140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grid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n-VN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 grid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Testing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n-VN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 row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Time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7003329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615182227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1" i="1" dirty="0" smtClean="0">
                                    <a:latin typeface="Cambria Math" panose="02040503050406030204" pitchFamily="18" charset="0"/>
                                  </a:rPr>
                                  <m:t>𝑺𝑸𝑵𝑵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0.571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87.7%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0.561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89h37m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13076458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Q-Forge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87.4%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0.573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86.3%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0.566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45h41m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12998089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𝑽𝑸𝑪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0.580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0.580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35h55m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21166863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Q-Forge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81.1%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0.581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80.3%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0.582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07h31m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62465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𝑽𝑸𝑪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82.7%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0.617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0.627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91h23m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61761405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Q-Forge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0.613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0.617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27h21m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556934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A2BC6DC-BB7C-B2AD-23C3-3E5D2B239A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9819133"/>
                  </p:ext>
                </p:extLst>
              </p:nvPr>
            </p:nvGraphicFramePr>
            <p:xfrm>
              <a:off x="822960" y="1834342"/>
              <a:ext cx="7498080" cy="3657600"/>
            </p:xfrm>
            <a:graphic>
              <a:graphicData uri="http://schemas.openxmlformats.org/drawingml/2006/table">
                <a:tbl>
                  <a:tblPr>
                    <a:tableStyleId>{4D94B0E2-A56C-400A-89A1-F14EF7D4C214}</a:tableStyleId>
                  </a:tblPr>
                  <a:tblGrid>
                    <a:gridCol w="1280160">
                      <a:extLst>
                        <a:ext uri="{9D8B030D-6E8A-4147-A177-3AD203B41FA5}">
                          <a16:colId xmlns:a16="http://schemas.microsoft.com/office/drawing/2014/main" val="2961694923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45081105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7149315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34962701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55846649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568131052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3443626140"/>
                        </a:ext>
                      </a:extLst>
                    </a:gridCol>
                  </a:tblGrid>
                  <a:tr h="457200"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grid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n-VN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 grid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Testing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n-VN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 rowSpan="2"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Time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7003329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 fontAlgn="b"/>
                          <a:endParaRPr lang="en-US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Acc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Loss</a:t>
                          </a:r>
                          <a:endParaRPr lang="en-VN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615182227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952" t="-100000" r="-487143" b="-207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0.571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87.7%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0.561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89h37m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13076458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Q-Forge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87.4%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0.573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86.3%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0.566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45h41m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712998089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952" t="-201333" r="-487143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0.580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0.580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35h55m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211668633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Q-Forge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81.1%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0.581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80.3%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0.582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07h31m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62465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952" t="-301333" r="-487143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Baseline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82.7%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0.617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0.627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91h23m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61761405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Q-Forge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0.613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87.0%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0.617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u="none" strike="noStrike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27h21m</a:t>
                          </a:r>
                          <a:endParaRPr lang="en-VN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556934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353;p14">
            <a:extLst>
              <a:ext uri="{FF2B5EF4-FFF2-40B4-BE49-F238E27FC236}">
                <a16:creationId xmlns:a16="http://schemas.microsoft.com/office/drawing/2014/main" id="{B495326C-6EDC-2DD1-52EC-7802460ED405}"/>
              </a:ext>
            </a:extLst>
          </p:cNvPr>
          <p:cNvSpPr txBox="1"/>
          <p:nvPr/>
        </p:nvSpPr>
        <p:spPr>
          <a:xfrm>
            <a:off x="578016" y="5484274"/>
            <a:ext cx="802286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Performance evaluation of models after 50 epochs trained using Q-forge and baseline. ﻿</a:t>
            </a:r>
            <a:endParaRPr sz="18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Google Shape;144;p3">
            <a:extLst>
              <a:ext uri="{FF2B5EF4-FFF2-40B4-BE49-F238E27FC236}">
                <a16:creationId xmlns:a16="http://schemas.microsoft.com/office/drawing/2014/main" id="{C8716FC2-3D60-F9BA-862C-4B183E0C437B}"/>
              </a:ext>
            </a:extLst>
          </p:cNvPr>
          <p:cNvSpPr txBox="1">
            <a:spLocks/>
          </p:cNvSpPr>
          <p:nvPr/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9pPr>
          </a:lstStyle>
          <a:p>
            <a:r>
              <a:rPr lang="en-US" b="1" dirty="0"/>
              <a:t>Experiment results</a:t>
            </a:r>
          </a:p>
          <a:p>
            <a:r>
              <a:rPr lang="en-US" sz="2400" dirty="0"/>
              <a:t>Key Results - Efficiency &amp; Accuracy</a:t>
            </a:r>
            <a:endParaRPr lang="en-US" b="1" dirty="0"/>
          </a:p>
        </p:txBody>
      </p:sp>
      <p:sp>
        <p:nvSpPr>
          <p:cNvPr id="3" name="Google Shape;305;p11">
            <a:extLst>
              <a:ext uri="{FF2B5EF4-FFF2-40B4-BE49-F238E27FC236}">
                <a16:creationId xmlns:a16="http://schemas.microsoft.com/office/drawing/2014/main" id="{5D76C4AA-DE15-582D-8640-1881F920E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2600" y="1114710"/>
            <a:ext cx="8229600" cy="55059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3120"/>
              <a:buNone/>
            </a:pPr>
            <a:r>
              <a:rPr lang="en-US" b="0" dirty="0"/>
              <a:t>Q-Forge reduces training time and can improve accuracy   </a:t>
            </a:r>
          </a:p>
        </p:txBody>
      </p:sp>
    </p:spTree>
    <p:extLst>
      <p:ext uri="{BB962C8B-B14F-4D97-AF65-F5344CB8AC3E}">
        <p14:creationId xmlns:p14="http://schemas.microsoft.com/office/powerpoint/2010/main" val="2030585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3FFFA491-F3F4-6501-4ABE-FCF224A59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>
            <a:extLst>
              <a:ext uri="{FF2B5EF4-FFF2-40B4-BE49-F238E27FC236}">
                <a16:creationId xmlns:a16="http://schemas.microsoft.com/office/drawing/2014/main" id="{8CEEB4CF-62BB-8E3C-AF35-B60F37F5C3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1AE5DEA5-6839-7E3E-A135-A63D2B193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099" y="2061029"/>
            <a:ext cx="5867400" cy="3664078"/>
          </a:xfrm>
          <a:prstGeom prst="rect">
            <a:avLst/>
          </a:prstGeom>
        </p:spPr>
      </p:pic>
      <p:sp>
        <p:nvSpPr>
          <p:cNvPr id="3" name="Google Shape;144;p3">
            <a:extLst>
              <a:ext uri="{FF2B5EF4-FFF2-40B4-BE49-F238E27FC236}">
                <a16:creationId xmlns:a16="http://schemas.microsoft.com/office/drawing/2014/main" id="{98756269-98B1-BD8C-77C1-C2A9793F6CCE}"/>
              </a:ext>
            </a:extLst>
          </p:cNvPr>
          <p:cNvSpPr txBox="1">
            <a:spLocks/>
          </p:cNvSpPr>
          <p:nvPr/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700" b="0" i="0" u="none" strike="noStrike" cap="none">
                <a:solidFill>
                  <a:srgbClr val="0099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099CC"/>
                </a:solidFill>
                <a:latin typeface="Monda"/>
                <a:ea typeface="Monda"/>
                <a:cs typeface="Monda"/>
                <a:sym typeface="Monda"/>
              </a:defRPr>
            </a:lvl9pPr>
          </a:lstStyle>
          <a:p>
            <a:r>
              <a:rPr lang="en-US" b="1" dirty="0"/>
              <a:t>Experiment results</a:t>
            </a:r>
          </a:p>
          <a:p>
            <a:r>
              <a:rPr lang="en-US" sz="2400" dirty="0"/>
              <a:t>Ablation Study - Why Q-ACS?</a:t>
            </a:r>
            <a:endParaRPr lang="en-US" b="1" dirty="0"/>
          </a:p>
        </p:txBody>
      </p:sp>
      <p:sp>
        <p:nvSpPr>
          <p:cNvPr id="5" name="Google Shape;353;p14">
            <a:extLst>
              <a:ext uri="{FF2B5EF4-FFF2-40B4-BE49-F238E27FC236}">
                <a16:creationId xmlns:a16="http://schemas.microsoft.com/office/drawing/2014/main" id="{E86818CC-743C-99CB-2A59-828F8800D9B1}"/>
              </a:ext>
            </a:extLst>
          </p:cNvPr>
          <p:cNvSpPr txBox="1"/>
          <p:nvPr/>
        </p:nvSpPr>
        <p:spPr>
          <a:xfrm>
            <a:off x="578016" y="5701989"/>
            <a:ext cx="802286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2:The figure illustrates the impact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transition points </a:t>
            </a:r>
            <a:r>
              <a:rPr lang="el-GR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τ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training process</a:t>
            </a:r>
            <a:endParaRPr sz="18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305;p11">
            <a:extLst>
              <a:ext uri="{FF2B5EF4-FFF2-40B4-BE49-F238E27FC236}">
                <a16:creationId xmlns:a16="http://schemas.microsoft.com/office/drawing/2014/main" id="{FB608CE7-DE20-25AD-C8CD-09C74335E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2600" y="1114709"/>
            <a:ext cx="8229600" cy="84471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3120"/>
              <a:buNone/>
            </a:pPr>
            <a:r>
              <a:rPr lang="en-US" b="0" dirty="0"/>
              <a:t>The transition point selected by Q-ACS, </a:t>
            </a:r>
          </a:p>
          <a:p>
            <a:pPr marL="0" indent="0" algn="ctr">
              <a:spcBef>
                <a:spcPts val="0"/>
              </a:spcBef>
              <a:buSzPts val="3120"/>
              <a:buNone/>
            </a:pPr>
            <a:r>
              <a:rPr lang="en-US" b="0" dirty="0"/>
              <a:t>at </a:t>
            </a:r>
            <a:r>
              <a:rPr lang="el-GR" i="1" dirty="0"/>
              <a:t>τ</a:t>
            </a:r>
            <a:r>
              <a:rPr lang="en-US" b="0" dirty="0"/>
              <a:t> equals 41, achieves the best result.</a:t>
            </a:r>
          </a:p>
        </p:txBody>
      </p:sp>
    </p:spTree>
    <p:extLst>
      <p:ext uri="{BB962C8B-B14F-4D97-AF65-F5344CB8AC3E}">
        <p14:creationId xmlns:p14="http://schemas.microsoft.com/office/powerpoint/2010/main" val="309657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9E6E2534-E9F1-D025-EF35-FBEF5F3D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>
            <a:extLst>
              <a:ext uri="{FF2B5EF4-FFF2-40B4-BE49-F238E27FC236}">
                <a16:creationId xmlns:a16="http://schemas.microsoft.com/office/drawing/2014/main" id="{F59FD0A9-687B-0FD7-B8D2-A3CE58306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Future Work</a:t>
            </a:r>
            <a:endParaRPr b="1" dirty="0"/>
          </a:p>
        </p:txBody>
      </p:sp>
      <p:sp>
        <p:nvSpPr>
          <p:cNvPr id="146" name="Google Shape;146;p3">
            <a:extLst>
              <a:ext uri="{FF2B5EF4-FFF2-40B4-BE49-F238E27FC236}">
                <a16:creationId xmlns:a16="http://schemas.microsoft.com/office/drawing/2014/main" id="{08D5140B-9D59-8F7C-BA90-F4BC9FBFEC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06F1702-9B23-B021-4CB9-D2DDB297D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Larger-scale quantum systems</a:t>
            </a:r>
          </a:p>
          <a:p>
            <a:pPr marL="347663" indent="0" algn="just">
              <a:spcBef>
                <a:spcPts val="0"/>
              </a:spcBef>
              <a:spcAft>
                <a:spcPts val="600"/>
              </a:spcAft>
              <a:buSzPts val="3120"/>
              <a:buNone/>
            </a:pPr>
            <a:r>
              <a:rPr lang="en-US" b="0" dirty="0"/>
              <a:t>Evaluate Q-Forge on models with more qubits and deeper circuits. 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More complex datasets and tasks </a:t>
            </a:r>
          </a:p>
          <a:p>
            <a:pPr marL="347663" indent="0" algn="just">
              <a:spcBef>
                <a:spcPts val="0"/>
              </a:spcBef>
              <a:spcAft>
                <a:spcPts val="600"/>
              </a:spcAft>
              <a:buSzPts val="3120"/>
              <a:buNone/>
            </a:pPr>
            <a:r>
              <a:rPr lang="en-US" b="0" dirty="0"/>
              <a:t>Extend experiments beyond binary MNIST to multi-class and real-world datasets. 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Deployment on real quantum hardware </a:t>
            </a:r>
          </a:p>
          <a:p>
            <a:pPr marL="347663" indent="0" algn="just">
              <a:spcBef>
                <a:spcPts val="0"/>
              </a:spcBef>
              <a:spcAft>
                <a:spcPts val="600"/>
              </a:spcAft>
              <a:buSzPts val="3120"/>
              <a:buNone/>
            </a:pPr>
            <a:r>
              <a:rPr lang="en-US" b="0" dirty="0"/>
              <a:t>Validate Q-Forge directly on physical NISQ devices. 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r>
              <a:rPr lang="en-US" dirty="0"/>
              <a:t>Generalization and robustness analysis </a:t>
            </a:r>
          </a:p>
          <a:p>
            <a:pPr marL="347663" indent="0" algn="just">
              <a:spcBef>
                <a:spcPts val="0"/>
              </a:spcBef>
              <a:spcAft>
                <a:spcPts val="600"/>
              </a:spcAft>
              <a:buSzPts val="3120"/>
              <a:buNone/>
            </a:pPr>
            <a:r>
              <a:rPr lang="en-US" b="0" dirty="0"/>
              <a:t>Study the stability of Q-Forge under different noise profiles and hardware backends.</a:t>
            </a:r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just">
              <a:spcBef>
                <a:spcPts val="0"/>
              </a:spcBef>
              <a:spcAft>
                <a:spcPts val="600"/>
              </a:spcAft>
              <a:buSzPts val="3120"/>
              <a:buFont typeface="Wingdings" panose="05000000000000000000" pitchFamily="2" charset="2"/>
              <a:buChar char="§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68380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4"/>
          <p:cNvSpPr txBox="1">
            <a:spLocks noGrp="1"/>
          </p:cNvSpPr>
          <p:nvPr>
            <p:ph type="title"/>
          </p:nvPr>
        </p:nvSpPr>
        <p:spPr>
          <a:xfrm>
            <a:off x="285722" y="115890"/>
            <a:ext cx="860745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03" name="Google Shape;903;p54"/>
          <p:cNvSpPr txBox="1">
            <a:spLocks noGrp="1"/>
          </p:cNvSpPr>
          <p:nvPr>
            <p:ph type="sldNum" idx="12"/>
          </p:nvPr>
        </p:nvSpPr>
        <p:spPr>
          <a:xfrm>
            <a:off x="6824661" y="6524626"/>
            <a:ext cx="719139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904" name="Google Shape;904;p54" descr="Text&#10;&#10;Description generated with high confidence"/>
          <p:cNvPicPr preferRelativeResize="0"/>
          <p:nvPr/>
        </p:nvPicPr>
        <p:blipFill rotWithShape="1">
          <a:blip r:embed="rId3">
            <a:alphaModFix/>
          </a:blip>
          <a:srcRect l="6649"/>
          <a:stretch/>
        </p:blipFill>
        <p:spPr>
          <a:xfrm>
            <a:off x="2272683" y="1997476"/>
            <a:ext cx="5005621" cy="3108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Modèle par défaut">
  <a:themeElements>
    <a:clrScheme name="1_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15212</TotalTime>
  <Words>1384</Words>
  <Application>Microsoft Office PowerPoint</Application>
  <PresentationFormat>Trình chiếu Trên màn hình (4:3)</PresentationFormat>
  <Paragraphs>271</Paragraphs>
  <Slides>12</Slides>
  <Notes>12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12</vt:i4>
      </vt:variant>
    </vt:vector>
  </HeadingPairs>
  <TitlesOfParts>
    <vt:vector size="20" baseType="lpstr">
      <vt:lpstr>Times New Roman</vt:lpstr>
      <vt:lpstr>Cambria Math</vt:lpstr>
      <vt:lpstr>Monda</vt:lpstr>
      <vt:lpstr>Calibri</vt:lpstr>
      <vt:lpstr>Arial</vt:lpstr>
      <vt:lpstr>Wingdings</vt:lpstr>
      <vt:lpstr>Noto Sans Symbols</vt:lpstr>
      <vt:lpstr>1_Modèle par défaut</vt:lpstr>
      <vt:lpstr>Q-Forge: An Efficient Two-Stage Framework  for Noise-Aware Quantum Model Training</vt:lpstr>
      <vt:lpstr>Outline</vt:lpstr>
      <vt:lpstr>Introduction</vt:lpstr>
      <vt:lpstr>Problem</vt:lpstr>
      <vt:lpstr>Research Objectives &amp; Contributions</vt:lpstr>
      <vt:lpstr>Bản trình bày PowerPoint</vt:lpstr>
      <vt:lpstr>The Q-ACS Algorithm</vt:lpstr>
      <vt:lpstr>Experimental Setup</vt:lpstr>
      <vt:lpstr>Bản trình bày PowerPoint</vt:lpstr>
      <vt:lpstr>Bản trình bày PowerPoint</vt:lpstr>
      <vt:lpstr>Future Work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Tien Thinh</dc:creator>
  <cp:lastModifiedBy>Ngoc-Truong Nguyen</cp:lastModifiedBy>
  <cp:revision>101</cp:revision>
  <dcterms:created xsi:type="dcterms:W3CDTF">2011-04-13T01:03:47Z</dcterms:created>
  <dcterms:modified xsi:type="dcterms:W3CDTF">2025-12-18T08:16:00Z</dcterms:modified>
</cp:coreProperties>
</file>